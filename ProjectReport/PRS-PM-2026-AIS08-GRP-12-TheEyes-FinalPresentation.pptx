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6222C"/>
                </a:solidFill>
                <a:latin typeface="IBM Plex Sans"/>
              </a:rPr>
              <a:t>The cube alone: ADD-S, mm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cam_front</c:v>
                </c:pt>
              </c:strCache>
            </c:strRef>
          </c:tx>
          <c:spPr>
            <a:solidFill>
              <a:srgbClr val="C3C1B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t1_cube</c:v>
                </c:pt>
                <c:pt idx="1">
                  <c:v>t1_cube_b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2.62</c:v>
                </c:pt>
                <c:pt idx="1">
                  <c:v>3.34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cam_over</c:v>
                </c:pt>
              </c:strCache>
            </c:strRef>
          </c:tx>
          <c:spPr>
            <a:solidFill>
              <a:srgbClr val="A9B4B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t1_cube</c:v>
                </c:pt>
                <c:pt idx="1">
                  <c:v>t1_cube_b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2.82</c:v>
                </c:pt>
                <c:pt idx="1">
                  <c:v>2.28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plain average</c:v>
                </c:pt>
              </c:strCache>
            </c:strRef>
          </c:tx>
          <c:spPr>
            <a:solidFill>
              <a:srgbClr val="B547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t1_cube</c:v>
                </c:pt>
                <c:pt idx="1">
                  <c:v>t1_cube_b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26.19</c:v>
                </c:pt>
                <c:pt idx="1">
                  <c:v>7.46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fused</c:v>
                </c:pt>
              </c:strCache>
            </c:strRef>
          </c:tx>
          <c:spPr>
            <a:solidFill>
              <a:srgbClr val="0E736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t1_cube</c:v>
                </c:pt>
                <c:pt idx="1">
                  <c:v>t1_cube_b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1.54</c:v>
                </c:pt>
                <c:pt idx="1">
                  <c:v>1.72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3E4A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1BC"/>
            </a:solidFill>
          </a:ln>
        </c:spPr>
        <c:txPr>
          <a:bodyPr/>
          <a:lstStyle/>
          <a:p>
            <a:pPr>
              <a:defRPr sz="1200">
                <a:solidFill>
                  <a:srgbClr val="3E4A5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3D6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E69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E4A54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6222C"/>
                </a:solidFill>
                <a:latin typeface="IBM Plex Sans"/>
              </a:rPr>
              <a:t>22 recordings, 6,600 frame pairs; target 0.95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E736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</c:v>
                </c:pt>
                <c:pt idx="1">
                  <c:v>clear</c:v>
                </c:pt>
                <c:pt idx="2">
                  <c:v>in</c:v>
                </c:pt>
                <c:pt idx="3">
                  <c:v>occluded_from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0.994</c:v>
                </c:pt>
                <c:pt idx="1">
                  <c:v>0.995</c:v>
                </c:pt>
                <c:pt idx="2">
                  <c:v>1.0</c:v>
                </c:pt>
                <c:pt idx="3">
                  <c:v>0.557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CCAB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</c:v>
                </c:pt>
                <c:pt idx="1">
                  <c:v>clear</c:v>
                </c:pt>
                <c:pt idx="2">
                  <c:v>in</c:v>
                </c:pt>
                <c:pt idx="3">
                  <c:v>occluded_from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3E4A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1BC"/>
            </a:solidFill>
          </a:ln>
        </c:spPr>
        <c:txPr>
          <a:bodyPr/>
          <a:lstStyle/>
          <a:p>
            <a:pPr>
              <a:defRPr sz="1200">
                <a:solidFill>
                  <a:srgbClr val="3E4A5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3D6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E69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E4A54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6222C"/>
                </a:solidFill>
                <a:latin typeface="IBM Plex Sans"/>
              </a:rPr>
              <a:t>Detector mAP@0.5:0.95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RGB only</c:v>
                </c:pt>
              </c:strCache>
            </c:strRef>
          </c:tx>
          <c:spPr>
            <a:solidFill>
              <a:srgbClr val="C3C1B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synthetic validation</c:v>
                </c:pt>
                <c:pt idx="1">
                  <c:v>real, 16 scenes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0.957</c:v>
                </c:pt>
                <c:pt idx="1">
                  <c:v>0.501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RGB-D</c:v>
                </c:pt>
              </c:strCache>
            </c:strRef>
          </c:tx>
          <c:spPr>
            <a:solidFill>
              <a:srgbClr val="6CCAB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synthetic validation</c:v>
                </c:pt>
                <c:pt idx="1">
                  <c:v>real, 16 scenes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0.957</c:v>
                </c:pt>
                <c:pt idx="1">
                  <c:v>0.67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RGB-D, fine-tuned</c:v>
                </c:pt>
              </c:strCache>
            </c:strRef>
          </c:tx>
          <c:spPr>
            <a:solidFill>
              <a:srgbClr val="0E736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synthetic validation</c:v>
                </c:pt>
                <c:pt idx="1">
                  <c:v>real, 16 scenes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0.945</c:v>
                </c:pt>
                <c:pt idx="1">
                  <c:v>0.934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>
                  <a:solidFill>
                    <a:srgbClr val="3E4A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1BC"/>
            </a:solidFill>
          </a:ln>
        </c:spPr>
        <c:txPr>
          <a:bodyPr/>
          <a:lstStyle/>
          <a:p>
            <a:pPr>
              <a:defRPr sz="1200">
                <a:solidFill>
                  <a:srgbClr val="3E4A5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3D6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E697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E4A54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g_overview_20260929.jpg"/>
          <p:cNvPicPr>
            <a:picLocks noChangeAspect="1"/>
          </p:cNvPicPr>
          <p:nvPr/>
        </p:nvPicPr>
        <p:blipFill>
          <a:blip r:embed="rId2"/>
          <a:srcRect l="19100" r="19100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29400" y="619963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IBM Plex Sans"/>
              </a:rPr>
              <a:t>The rig: two RealSense D435i on tripods, the printed objects in their marker trays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4173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CABD"/>
                </a:solidFill>
                <a:latin typeface="IBM Plex Mono"/>
              </a:rPr>
              <a:t>PRS PRACTICE MODULE ·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2880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Space Grotesk"/>
              </a:rPr>
              <a:t>The Eyes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297180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8D3D8"/>
                </a:solidFill>
                <a:latin typeface="Space Grotesk"/>
              </a:rPr>
              <a:t>Multi-view perception and scene understanding for robot manipulation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434340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8D3D8"/>
                </a:solidFill>
                <a:latin typeface="IBM Plex Sans"/>
              </a:rPr>
              <a:t>Group 12 · AIS08 · Chan Wai Jye (solo)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8D3D8"/>
                </a:solidFill>
                <a:latin typeface="IBM Plex Sans"/>
              </a:rPr>
              <a:t>31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56692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7A0"/>
                </a:solidFill>
                <a:latin typeface="IBM Plex Sans"/>
              </a:rPr>
              <a:t>Code built with Claude Code under the author's design and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Why one camera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2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1737360"/>
            <a:ext cx="5212080" cy="4023360"/>
          </a:xfrm>
          <a:prstGeom prst="roundRect">
            <a:avLst>
              <a:gd name="adj" fmla="val 3000"/>
            </a:avLst>
          </a:prstGeom>
          <a:solidFill>
            <a:srgbClr val="EEEBE2"/>
          </a:solidFill>
          <a:ln w="9525">
            <a:solidFill>
              <a:srgbClr val="C3C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1828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3"/>
                </a:solidFill>
                <a:latin typeface="IBM Plex Mono"/>
              </a:rPr>
              <a:t>the table, from above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2576" y="3886200"/>
            <a:ext cx="1097280" cy="146304"/>
          </a:xfrm>
          <a:prstGeom prst="rect">
            <a:avLst/>
          </a:prstGeom>
          <a:solidFill>
            <a:srgbClr val="16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36776" y="384048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E6973"/>
                </a:solidFill>
                <a:latin typeface="IBM Plex Sans"/>
              </a:rPr>
              <a:t>a 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834639"/>
            <a:ext cx="457200" cy="457200"/>
          </a:xfrm>
          <a:prstGeom prst="rect">
            <a:avLst/>
          </a:prstGeom>
          <a:solidFill>
            <a:srgbClr val="B5473A"/>
          </a:solidFill>
          <a:ln w="19050">
            <a:solidFill>
              <a:srgbClr val="B54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09544" y="29443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5473A"/>
                </a:solidFill>
                <a:latin typeface="IBM Plex Sans"/>
              </a:rPr>
              <a:t>the cube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27048" y="5257800"/>
            <a:ext cx="402336" cy="274320"/>
          </a:xfrm>
          <a:prstGeom prst="rect">
            <a:avLst/>
          </a:prstGeom>
          <a:solidFill>
            <a:srgbClr val="0E7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9576" y="55778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36B"/>
                </a:solidFill>
                <a:latin typeface="IBM Plex Sans"/>
              </a:rPr>
              <a:t>camera 1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728216" y="4032504"/>
            <a:ext cx="640080" cy="1225296"/>
          </a:xfrm>
          <a:prstGeom prst="line">
            <a:avLst/>
          </a:prstGeom>
          <a:ln w="12700">
            <a:solidFill>
              <a:srgbClr val="0E73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28216" y="4032504"/>
            <a:ext cx="1645920" cy="1225296"/>
          </a:xfrm>
          <a:prstGeom prst="line">
            <a:avLst/>
          </a:prstGeom>
          <a:ln w="12700">
            <a:solidFill>
              <a:srgbClr val="0E73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01768" y="5257800"/>
            <a:ext cx="402336" cy="274320"/>
          </a:xfrm>
          <a:prstGeom prst="rect">
            <a:avLst/>
          </a:prstGeom>
          <a:solidFill>
            <a:srgbClr val="0E7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79975" y="55778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0E736B"/>
                </a:solidFill>
                <a:latin typeface="IBM Plex Sans"/>
              </a:rPr>
              <a:t>camera 2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3099816" y="3291839"/>
            <a:ext cx="2103120" cy="1965961"/>
          </a:xfrm>
          <a:prstGeom prst="line">
            <a:avLst/>
          </a:prstGeom>
          <a:ln w="15875">
            <a:solidFill>
              <a:srgbClr val="0E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379976" y="2423160"/>
            <a:ext cx="502920" cy="502920"/>
          </a:xfrm>
          <a:prstGeom prst="ellipse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489704" y="2468879"/>
            <a:ext cx="146304" cy="146304"/>
          </a:xfrm>
          <a:prstGeom prst="ellipse">
            <a:avLst/>
          </a:prstGeom>
          <a:noFill/>
          <a:ln w="19050">
            <a:solidFill>
              <a:srgbClr val="162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654296" y="2624328"/>
            <a:ext cx="146304" cy="146304"/>
          </a:xfrm>
          <a:prstGeom prst="ellipse">
            <a:avLst/>
          </a:prstGeom>
          <a:noFill/>
          <a:ln w="19050">
            <a:solidFill>
              <a:srgbClr val="1622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968496" y="3017520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seen by both: two estimates that never quite agree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1737360"/>
            <a:ext cx="489478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6222C"/>
                </a:solidFill>
                <a:latin typeface="Space Grotesk"/>
              </a:rPr>
              <a:t>A planner works with statements, like </a:t>
            </a:r>
            <a:r>
              <a:rPr sz="1700" b="0" i="0">
                <a:solidFill>
                  <a:srgbClr val="16222C"/>
                </a:solidFill>
                <a:latin typeface="IBM Plex Mono"/>
              </a:rPr>
              <a:t>(on cube table)</a:t>
            </a:r>
            <a:r>
              <a:rPr sz="2000" b="0" i="0">
                <a:solidFill>
                  <a:srgbClr val="16222C"/>
                </a:solidFill>
                <a:latin typeface="Space Grotesk"/>
              </a:rPr>
              <a:t>. A real robot has to get them from cameras.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3096" y="2743200"/>
            <a:ext cx="4894783" cy="10058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65976" y="288950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2889504"/>
            <a:ext cx="4218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Association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5976" y="3220974"/>
            <a:ext cx="4529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Which estimates, one per camera, are the same object?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83096" y="3813048"/>
            <a:ext cx="4894783" cy="10058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65976" y="3959352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3959352"/>
            <a:ext cx="4218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Arbitration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5976" y="4290822"/>
            <a:ext cx="4529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When two views disagree, which one is wrong?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83096" y="4882896"/>
            <a:ext cx="4894783" cy="10058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65976" y="502920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5029200"/>
            <a:ext cx="4218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Symbolisation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5360670"/>
            <a:ext cx="45290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How do poses become facts reliable enough to plan with?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02 ·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The rig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config/extrinsics.yaml; frames.skew_ms of every scored scene and 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3 / 18</a:t>
            </a:r>
          </a:p>
        </p:txBody>
      </p:sp>
      <p:pic>
        <p:nvPicPr>
          <p:cNvPr id="7" name="Picture 6" descr="rig_trays_charuco_202609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055456"/>
            <a:ext cx="6035040" cy="33871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68896" y="1691640"/>
            <a:ext cx="420898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51775" y="1837944"/>
            <a:ext cx="3843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2 × Intel RealSense D435i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2132584"/>
            <a:ext cx="3843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Active IR stereo depth plus colour, on tripods, each selected by its serial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2734056"/>
            <a:ext cx="420898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51775" y="2880360"/>
            <a:ext cx="3843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About 0.74 m apart, 80° between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3175000"/>
            <a:ext cx="3843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Frames paired by timestamp, never more than 16.7 ms apart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68896" y="3776472"/>
            <a:ext cx="420898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51775" y="3922776"/>
            <a:ext cx="3843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Calibrated to about 0.3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4217416"/>
            <a:ext cx="3843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Against the ChArUco board, and registered again at the start of every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4818888"/>
            <a:ext cx="420898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51775" y="4965192"/>
            <a:ext cx="3843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Three printed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5259831"/>
            <a:ext cx="384322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Printed from the pose estimator's own meshes; the grey marker trays are for ground truth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02 ·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One C++ process, two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1691640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Mono"/>
              </a:rPr>
              <a:t>PER VIEW · once for each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3675887"/>
            <a:ext cx="100611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PER FRAME PAIR · the project's core, written from first principles in C++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2011680"/>
            <a:ext cx="2435275" cy="13258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139696"/>
            <a:ext cx="21609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2 × D435i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RGB-D frames, 30 a second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76523" y="2670048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3411" y="2011680"/>
            <a:ext cx="2435275" cy="13258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69715" y="2139696"/>
            <a:ext cx="21609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RGB-D YOLOv8n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9715" y="2487168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4-channel input; trained here on 40,012 synthetic frames, fine-tuned on 360 real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6119" y="2670048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3007" y="2011680"/>
            <a:ext cx="2435275" cy="13258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79311" y="2139696"/>
            <a:ext cx="21609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FoundationPose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11" y="2487168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6-DoF pose from the CAD mesh; pretrained, frozen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95715" y="2670048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42603" y="2011680"/>
            <a:ext cx="2435275" cy="13258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88907" y="2139696"/>
            <a:ext cx="21609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World 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8907" y="2487168"/>
            <a:ext cx="21609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Each pose moved into the shared table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" y="3995928"/>
            <a:ext cx="1893356" cy="132588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123944"/>
            <a:ext cx="16190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Depth check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71416"/>
            <a:ext cx="16190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Does the other camera see through this pose?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34604" y="4654296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81492" y="3995928"/>
            <a:ext cx="1893356" cy="132588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127796" y="4123944"/>
            <a:ext cx="16190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Association 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796" y="4471416"/>
            <a:ext cx="16190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The same object, matched across the views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02281" y="4654296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49169" y="3995928"/>
            <a:ext cx="1893356" cy="132588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95473" y="4123944"/>
            <a:ext cx="16190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Fusion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95473" y="4471416"/>
            <a:ext cx="16190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Gate at 50 mm / 30°; confidence weighting; an EKF per object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69957" y="4654296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316845" y="3995928"/>
            <a:ext cx="1893356" cy="132588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63149" y="4123944"/>
            <a:ext cx="16190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Scene graph 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3149" y="4471416"/>
            <a:ext cx="16190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on, in, clear, occluded_from; the support check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37634" y="4654296"/>
            <a:ext cx="219456" cy="0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84522" y="3995928"/>
            <a:ext cx="1893356" cy="132588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630826" y="4123944"/>
            <a:ext cx="16190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Outputs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0826" y="4471416"/>
            <a:ext cx="161903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E4A54"/>
                </a:solidFill>
                <a:latin typeface="IBM Plex Sans"/>
              </a:rPr>
              <a:t>PDDL (:init …) facts and ObjectState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60241" y="3337560"/>
            <a:ext cx="0" cy="182880"/>
          </a:xfrm>
          <a:prstGeom prst="line">
            <a:avLst/>
          </a:prstGeom>
          <a:ln w="15875">
            <a:solidFill>
              <a:srgbClr val="5E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133856" y="3520440"/>
            <a:ext cx="9026385" cy="0"/>
          </a:xfrm>
          <a:prstGeom prst="line">
            <a:avLst/>
          </a:prstGeom>
          <a:ln w="15875">
            <a:solidFill>
              <a:srgbClr val="5E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33856" y="3520440"/>
            <a:ext cx="0" cy="475488"/>
          </a:xfrm>
          <a:prstGeom prst="line">
            <a:avLst/>
          </a:prstGeom>
          <a:ln w="15875">
            <a:solidFill>
              <a:srgbClr val="5E69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3816" y="5532120"/>
            <a:ext cx="10564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★ No sensor-fusion, pose-averaging or scene-graph library: Eigen for linear algebra only. The code was written with Claude Code under the author's design and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02 ·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What the console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the live take demo_live_d, 25 Oct 2026, at 60 s: the cube is in the bowl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5 / 18</a:t>
            </a:r>
          </a:p>
        </p:txBody>
      </p:sp>
      <p:pic>
        <p:nvPicPr>
          <p:cNvPr id="7" name="Picture 6" descr="live_d_60s_cons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403" y="1645920"/>
            <a:ext cx="6966584" cy="42062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081735" y="1730044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81735" y="3706977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495361" y="3706977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6237008" y="3706977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8229028" y="1664208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228" y="1645920"/>
            <a:ext cx="2691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Both camera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228" y="1975104"/>
            <a:ext cx="2691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Boxes from the detector, axes from the pose estimator, per camera</a:t>
            </a:r>
          </a:p>
        </p:txBody>
      </p:sp>
      <p:sp>
        <p:nvSpPr>
          <p:cNvPr id="15" name="Oval 14"/>
          <p:cNvSpPr/>
          <p:nvPr/>
        </p:nvSpPr>
        <p:spPr>
          <a:xfrm>
            <a:off x="8229028" y="2734056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228" y="2715768"/>
            <a:ext cx="2691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The table from above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228" y="3044951"/>
            <a:ext cx="2691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The fused objects in the shared frame, and the two cameras</a:t>
            </a:r>
          </a:p>
        </p:txBody>
      </p:sp>
      <p:sp>
        <p:nvSpPr>
          <p:cNvPr id="18" name="Oval 17"/>
          <p:cNvSpPr/>
          <p:nvPr/>
        </p:nvSpPr>
        <p:spPr>
          <a:xfrm>
            <a:off x="8229028" y="3803903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228" y="3785615"/>
            <a:ext cx="2691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The scene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228" y="4114800"/>
            <a:ext cx="2691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Each object and what it rests on or sits in</a:t>
            </a:r>
          </a:p>
        </p:txBody>
      </p:sp>
      <p:sp>
        <p:nvSpPr>
          <p:cNvPr id="21" name="Oval 20"/>
          <p:cNvSpPr/>
          <p:nvPr/>
        </p:nvSpPr>
        <p:spPr>
          <a:xfrm>
            <a:off x="8229028" y="4873751"/>
            <a:ext cx="347472" cy="347472"/>
          </a:xfrm>
          <a:prstGeom prst="ellipse">
            <a:avLst/>
          </a:prstGeom>
          <a:solidFill>
            <a:srgbClr val="0E73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228" y="4855464"/>
            <a:ext cx="269165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The 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228" y="5184648"/>
            <a:ext cx="2691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The (:init …) block a planner reads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03 ·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Live on the rig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demo_live_d, 25 Oct 2026, its metrics.sqlite; final report §9.8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6 / 18</a:t>
            </a:r>
          </a:p>
        </p:txBody>
      </p:sp>
      <p:pic>
        <p:nvPicPr>
          <p:cNvPr id="7" name="Picture 6" descr="live_d_84s_cons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98" y="1645920"/>
            <a:ext cx="6360795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5298" y="5541264"/>
            <a:ext cx="63607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3"/>
                </a:solidFill>
                <a:latin typeface="IBM Plex Sans"/>
              </a:rPr>
              <a:t>LIVE, one take, not replayed. At 84 s the card hides the cube from cam_over: cam_front 3, cam_over 2, fused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1853" y="160020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E736B"/>
                </a:solidFill>
                <a:latin typeface="Space Grotesk"/>
              </a:rPr>
              <a:t>13.3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1853" y="218440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frame pairs a second over the 195 s 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1853" y="269748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E736B"/>
                </a:solidFill>
                <a:latin typeface="Space Grotes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1853" y="328168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 second with three objects tracked in each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1853" y="379476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E736B"/>
                </a:solidFill>
                <a:latin typeface="Space Grotesk"/>
              </a:rPr>
              <a:t>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1853" y="437896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of a three-object pair is the pose estimator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1853" y="489204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736B"/>
                </a:solidFill>
                <a:latin typeface="Space Grotesk"/>
              </a:rPr>
              <a:t>1.1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1853" y="5359400"/>
            <a:ext cx="34060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per new object per view, while the pose estimator registers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04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Ground truth from printed marker trays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§7–8; ground truth across cameras 0.3–1.4 mm (docs/OCTOBER_PLAN.md); config/meshes.yaml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7 / 18</a:t>
            </a:r>
          </a:p>
        </p:txBody>
      </p:sp>
      <p:pic>
        <p:nvPicPr>
          <p:cNvPr id="7" name="Picture 6" descr="t1_cube_gt_st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661964"/>
            <a:ext cx="5144871" cy="2893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4610819"/>
            <a:ext cx="5144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A ground-truth still: the cube in its tray, with the tray's markers</a:t>
            </a:r>
          </a:p>
        </p:txBody>
      </p:sp>
      <p:pic>
        <p:nvPicPr>
          <p:cNvPr id="9" name="Picture 8" descr="t1_cube_gt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652318"/>
            <a:ext cx="5144871" cy="29132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4620465"/>
            <a:ext cx="5144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pose the markers give, drawn back onto the frame (green)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4937760"/>
            <a:ext cx="3338474" cy="91440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96696" y="5084064"/>
            <a:ext cx="297271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Within 1.5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5378704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The two cameras agree on each tray's true 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6610" y="4937760"/>
            <a:ext cx="3338474" cy="91440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09490" y="5084064"/>
            <a:ext cx="297271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Recorded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490" y="5378704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300 frame pairs a scene, replayed for every method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404" y="4937760"/>
            <a:ext cx="3338474" cy="91440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2284" y="5084064"/>
            <a:ext cx="297271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Under 10% of the diameter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2284" y="5378704"/>
            <a:ext cx="297271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ADD-S, the surface-to-surface error, counts as right: 8.7 mm for the cube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04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Sixteen scenes, four levels of occlusion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§8, §9.4; t2_in_a and t2_in_b, 10 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1691640"/>
            <a:ext cx="2435275" cy="196596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6696" y="1810512"/>
            <a:ext cx="20695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736B"/>
                </a:solidFill>
                <a:latin typeface="Space Grotesk"/>
              </a:rPr>
              <a:t>T1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377440"/>
            <a:ext cx="20695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715768"/>
            <a:ext cx="2069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5 scenes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017520"/>
            <a:ext cx="20695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 cube or the bottle, nothing else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3411" y="1691640"/>
            <a:ext cx="2435275" cy="196596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06291" y="1810512"/>
            <a:ext cx="20695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736B"/>
                </a:solidFill>
                <a:latin typeface="Space Grotesk"/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2377440"/>
            <a:ext cx="20695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In clutter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2715768"/>
            <a:ext cx="2069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3 scenes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6291" y="3017520"/>
            <a:ext cx="20695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Three objects among distractors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691640"/>
            <a:ext cx="2435275" cy="196596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5887" y="1810512"/>
            <a:ext cx="20695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736B"/>
                </a:solidFill>
                <a:latin typeface="Space Grotesk"/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377440"/>
            <a:ext cx="20695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Half hidden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2715768"/>
            <a:ext cx="2069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4 scenes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3017520"/>
            <a:ext cx="20695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From one camera; one scene's level not certified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603" y="1691640"/>
            <a:ext cx="2435275" cy="196596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25483" y="1810512"/>
            <a:ext cx="20695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736B"/>
                </a:solidFill>
                <a:latin typeface="Space Grotesk"/>
              </a:rPr>
              <a:t>T4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483" y="2377440"/>
            <a:ext cx="20695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Fully 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483" y="2715768"/>
            <a:ext cx="20695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4 scenes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483" y="3017520"/>
            <a:ext cx="20695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From one camera, which sees 0–6% of it</a:t>
            </a:r>
          </a:p>
        </p:txBody>
      </p:sp>
      <p:pic>
        <p:nvPicPr>
          <p:cNvPr id="27" name="Picture 26" descr="t2_in_a_cam_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966210"/>
            <a:ext cx="3291840" cy="18516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25696" y="3977639"/>
            <a:ext cx="69521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Two more with the cube inside the bowl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4389120"/>
            <a:ext cx="695218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E4A54"/>
                </a:solidFill>
                <a:latin typeface="IBM Plex Mono"/>
              </a:rPr>
              <a:t>(in red_cube bowl)</a:t>
            </a:r>
            <a:r>
              <a:rPr sz="1400" b="0" i="0">
                <a:solidFill>
                  <a:srgbClr val="3E4A54"/>
                </a:solidFill>
                <a:latin typeface="IBM Plex Sans"/>
              </a:rPr>
              <a:t> is reported on 300 of 300 frame pairs in both.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3E4A54"/>
                </a:solidFill>
                <a:latin typeface="IBM Plex Sans"/>
              </a:rPr>
              <a:t>Every method runs on the same recorded frames. Intervals are 95% bootstrap over scenes; a difference counts only if it is beyond the 2–4 mm sensor floor.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A hidden object is still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§9.4; the share each blocked camera sees from runs/scored/*/visibility.csv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9 / 18</a:t>
            </a:r>
          </a:p>
        </p:txBody>
      </p:sp>
      <p:pic>
        <p:nvPicPr>
          <p:cNvPr id="7" name="Picture 6" descr="t4_cube_over_vie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590" y="1645920"/>
            <a:ext cx="7606513" cy="2148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92590" y="3849624"/>
            <a:ext cx="76065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t4_cube_over: cam_front (left) sees the cube; from cam_over (right) the card hides 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13816" y="4160520"/>
          <a:ext cx="6309360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/>
                <a:gridCol w="1188720"/>
                <a:gridCol w="1005840"/>
                <a:gridCol w="1234440"/>
                <a:gridCol w="128016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6222C"/>
                          </a:solidFill>
                          <a:latin typeface="IBM Plex Sans"/>
                        </a:rPr>
                        <a:t>Scene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6222C"/>
                          </a:solidFill>
                          <a:latin typeface="IBM Plex Sans"/>
                        </a:rPr>
                        <a:t>Blocked camera sees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6222C"/>
                          </a:solidFill>
                          <a:latin typeface="IBM Plex Sans"/>
                        </a:rPr>
                        <a:t>It finds it on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6222C"/>
                          </a:solidFill>
                          <a:latin typeface="IBM Plex Sans"/>
                        </a:rPr>
                        <a:t>Fused finds it on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6222C"/>
                          </a:solidFill>
                          <a:latin typeface="IBM Plex Sans"/>
                        </a:rPr>
                        <a:t>Fused ADD-S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t4_cube_over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0 / 300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4A54"/>
                          </a:solidFill>
                          <a:latin typeface="IBM Plex Sans"/>
                        </a:rPr>
                        <a:t>300 / 300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3.08 mm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t4_cube_front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0 / 300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4A54"/>
                          </a:solidFill>
                          <a:latin typeface="IBM Plex Sans"/>
                        </a:rPr>
                        <a:t>300 / 300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1.65 mm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t4_bottle_over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6%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0 / 300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4A54"/>
                          </a:solidFill>
                          <a:latin typeface="IBM Plex Sans"/>
                        </a:rPr>
                        <a:t>300 / 300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3.91 mm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t4_bottle_over_b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2%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0 / 300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3E4A54"/>
                          </a:solidFill>
                          <a:latin typeface="IBM Plex Sans"/>
                        </a:rPr>
                        <a:t>300 / 300</a:t>
                      </a:r>
                    </a:p>
                  </a:txBody>
                  <a:tcPr marL="73152" marR="73152" marT="27432" marB="27432" anchor="ctr">
                    <a:solidFill>
                      <a:srgbClr val="DCEB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3E4A54"/>
                          </a:solidFill>
                          <a:latin typeface="IBM Plex Sans"/>
                        </a:rPr>
                        <a:t>2.85 mm</a:t>
                      </a:r>
                    </a:p>
                  </a:txBody>
                  <a:tcPr marL="73152" marR="73152" marT="27432" marB="27432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43216" y="4069080"/>
            <a:ext cx="39346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E736B"/>
                </a:solidFill>
                <a:latin typeface="Space Grotesk"/>
              </a:rPr>
              <a:t>+1.00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4653280"/>
            <a:ext cx="39346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recall, fused against the blocked camera, 95% interval [1.00, 1.00]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3216" y="5166360"/>
            <a:ext cx="393466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 single camera does as well only when it is the open one. No single camera covers all four scenes.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How the views are combined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runs/scored/20261005/t1_cube*/ablation.log (all arms with the EKF); final report §9.4, docs/results/ablation_ci.json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10 / 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13816" y="1600200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97496" y="1691640"/>
            <a:ext cx="3980383" cy="13258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B54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0375" y="1837944"/>
            <a:ext cx="3614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Averaging fails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5" y="2132584"/>
            <a:ext cx="361462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The cube looks the same from several directions; the cameras pick different ones, and their average is a rotation neither saw.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3154680"/>
            <a:ext cx="3980383" cy="118872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80375" y="3300984"/>
            <a:ext cx="3614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Gated vs plain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5" y="3595624"/>
            <a:ext cx="36146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All 16 scenes: −9.81 mm [−16.96, −3.75], beyond the sensor floor.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4480560"/>
            <a:ext cx="3980383" cy="137160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80375" y="4626864"/>
            <a:ext cx="3614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Fused vs the better 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5" y="4921504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All 16: 2.76 against 3.19 mm, a difference of −0.36 [−0.83, 0.08]. Not resolvable on this rig.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When fusion believed the wrong camera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§9.4–9.5; t3_bottle_over_b and t3_bottle_over; refusals over all 22 scenes, docs/OCTOBER_PLAN.md, 17 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1691640"/>
            <a:ext cx="5669280" cy="4114800"/>
          </a:xfrm>
          <a:prstGeom prst="roundRect">
            <a:avLst>
              <a:gd name="adj" fmla="val 3000"/>
            </a:avLst>
          </a:prstGeom>
          <a:solidFill>
            <a:srgbClr val="EEEBE2"/>
          </a:solidFill>
          <a:ln w="9525">
            <a:solidFill>
              <a:srgbClr val="C3C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3"/>
                </a:solidFill>
                <a:latin typeface="IBM Plex Mono"/>
              </a:rPr>
              <a:t>the table, from above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45536" y="3291840"/>
            <a:ext cx="1005840" cy="128016"/>
          </a:xfrm>
          <a:prstGeom prst="rect">
            <a:avLst/>
          </a:prstGeom>
          <a:solidFill>
            <a:srgbClr val="16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42816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E6973"/>
                </a:solidFill>
                <a:latin typeface="IBM Plex Sans"/>
              </a:rPr>
              <a:t>the cover</a:t>
            </a:r>
          </a:p>
        </p:txBody>
      </p:sp>
      <p:sp>
        <p:nvSpPr>
          <p:cNvPr id="11" name="Oval 10"/>
          <p:cNvSpPr/>
          <p:nvPr/>
        </p:nvSpPr>
        <p:spPr>
          <a:xfrm>
            <a:off x="2368296" y="2194560"/>
            <a:ext cx="548640" cy="548640"/>
          </a:xfrm>
          <a:prstGeom prst="ellipse">
            <a:avLst/>
          </a:prstGeom>
          <a:solidFill>
            <a:srgbClr val="E8B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08376" y="23591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222C"/>
                </a:solidFill>
                <a:latin typeface="IBM Plex Sans"/>
              </a:rPr>
              <a:t>the bottle</a:t>
            </a:r>
          </a:p>
        </p:txBody>
      </p:sp>
      <p:sp>
        <p:nvSpPr>
          <p:cNvPr id="13" name="Oval 12"/>
          <p:cNvSpPr/>
          <p:nvPr/>
        </p:nvSpPr>
        <p:spPr>
          <a:xfrm>
            <a:off x="3328416" y="3383280"/>
            <a:ext cx="548640" cy="548640"/>
          </a:xfrm>
          <a:prstGeom prst="ellipse">
            <a:avLst/>
          </a:prstGeom>
          <a:noFill/>
          <a:ln w="25400">
            <a:solidFill>
              <a:srgbClr val="B547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8136" y="3200400"/>
            <a:ext cx="1965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5473A"/>
                </a:solidFill>
                <a:latin typeface="IBM Plex Sans"/>
              </a:rPr>
              <a:t>where cam_over put it: score 0.99, 70–86 mm 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8448" y="5257800"/>
            <a:ext cx="402336" cy="274320"/>
          </a:xfrm>
          <a:prstGeom prst="rect">
            <a:avLst/>
          </a:prstGeom>
          <a:solidFill>
            <a:srgbClr val="0E7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71016" y="55778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36B"/>
                </a:solidFill>
                <a:latin typeface="IBM Plex Sans"/>
              </a:rPr>
              <a:t>cam_front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5257800"/>
            <a:ext cx="402336" cy="274320"/>
          </a:xfrm>
          <a:prstGeom prst="rect">
            <a:avLst/>
          </a:prstGeom>
          <a:solidFill>
            <a:srgbClr val="0E7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62856" y="557784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0E736B"/>
                </a:solidFill>
                <a:latin typeface="IBM Plex Sans"/>
              </a:rPr>
              <a:t>cam_over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3694176" y="3419856"/>
            <a:ext cx="2103120" cy="1837944"/>
          </a:xfrm>
          <a:prstGeom prst="line">
            <a:avLst/>
          </a:prstGeom>
          <a:ln w="12700">
            <a:solidFill>
              <a:srgbClr val="0E73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99616" y="2811780"/>
            <a:ext cx="3154680" cy="2446020"/>
          </a:xfrm>
          <a:prstGeom prst="line">
            <a:avLst/>
          </a:prstGeom>
          <a:ln w="25400">
            <a:solidFill>
              <a:srgbClr val="0E73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90288" y="2747772"/>
            <a:ext cx="128016" cy="128016"/>
          </a:xfrm>
          <a:prstGeom prst="ellipse">
            <a:avLst/>
          </a:prstGeom>
          <a:solidFill>
            <a:srgbClr val="0E7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91456" y="26289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Sans"/>
              </a:rPr>
              <a:t>cam_front measures a surface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3976" y="51206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E4A54"/>
                </a:solidFill>
                <a:latin typeface="IBM Plex Sans"/>
              </a:rPr>
              <a:t>cam_front sees past the claimed spot, so nothing is there: the estimate is vetoed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1691640"/>
            <a:ext cx="45747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Keep the higher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2057400"/>
            <a:ext cx="45747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5473A"/>
                </a:solidFill>
                <a:latin typeface="Space Grotesk"/>
              </a:rPr>
              <a:t>70.75</a:t>
            </a:r>
            <a:r>
              <a:rPr sz="1600" b="0" i="0">
                <a:solidFill>
                  <a:srgbClr val="3E4A54"/>
                </a:solidFill>
                <a:latin typeface="IBM Plex Sans"/>
              </a:rPr>
              <a:t>  and  </a:t>
            </a:r>
            <a:r>
              <a:rPr sz="3000" b="1" i="0">
                <a:solidFill>
                  <a:srgbClr val="B5473A"/>
                </a:solidFill>
                <a:latin typeface="Space Grotesk"/>
              </a:rPr>
              <a:t>83.72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3136" y="2651760"/>
            <a:ext cx="457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E6973"/>
                </a:solidFill>
                <a:latin typeface="IBM Plex Sans"/>
              </a:rPr>
              <a:t>the good camera alone: 3.06 and 3.14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3200400"/>
            <a:ext cx="45747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Veto by the other camera's depth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566160"/>
            <a:ext cx="45747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736B"/>
                </a:solidFill>
                <a:latin typeface="Space Grotesk"/>
              </a:rPr>
              <a:t>3.03</a:t>
            </a:r>
            <a:r>
              <a:rPr sz="1600" b="0" i="0">
                <a:solidFill>
                  <a:srgbClr val="3E4A54"/>
                </a:solidFill>
                <a:latin typeface="IBM Plex Sans"/>
              </a:rPr>
              <a:t>  and  </a:t>
            </a:r>
            <a:r>
              <a:rPr sz="3000" b="1" i="0">
                <a:solidFill>
                  <a:srgbClr val="0E736B"/>
                </a:solidFill>
                <a:latin typeface="Space Grotesk"/>
              </a:rPr>
              <a:t>3.12 mm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03136" y="4434840"/>
            <a:ext cx="4574743" cy="137160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986016" y="4581144"/>
            <a:ext cx="4208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1,035 estimates vetoed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4875784"/>
            <a:ext cx="420898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Over all 22 recordings. One of them was within 30 mm of the truth, of 17,121 that were.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Objects that are not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§9.2, §9.7; replays of 20261005/t3_cube_front with each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12 / 18</a:t>
            </a:r>
          </a:p>
        </p:txBody>
      </p:sp>
      <p:pic>
        <p:nvPicPr>
          <p:cNvPr id="7" name="Picture 6" descr="synthetic_t3_cube_front_5s_cam_front.jpg"/>
          <p:cNvPicPr>
            <a:picLocks noChangeAspect="1"/>
          </p:cNvPicPr>
          <p:nvPr/>
        </p:nvPicPr>
        <p:blipFill>
          <a:blip r:embed="rId2"/>
          <a:srcRect t="6598" b="15395"/>
          <a:stretch>
            <a:fillRect/>
          </a:stretch>
        </p:blipFill>
        <p:spPr>
          <a:xfrm>
            <a:off x="813816" y="1645920"/>
            <a:ext cx="5144871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4114800"/>
            <a:ext cx="5144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Synthetic-only detector, cam_front: a cube boxed on the card's red print</a:t>
            </a:r>
          </a:p>
        </p:txBody>
      </p:sp>
      <p:pic>
        <p:nvPicPr>
          <p:cNvPr id="9" name="Picture 8" descr="replay_t3_cube_front_5s_cam_front.jpg"/>
          <p:cNvPicPr>
            <a:picLocks noChangeAspect="1"/>
          </p:cNvPicPr>
          <p:nvPr/>
        </p:nvPicPr>
        <p:blipFill>
          <a:blip r:embed="rId3"/>
          <a:srcRect t="6598" b="15395"/>
          <a:stretch>
            <a:fillRect/>
          </a:stretch>
        </p:blipFill>
        <p:spPr>
          <a:xfrm>
            <a:off x="6233007" y="1645920"/>
            <a:ext cx="5144871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4114800"/>
            <a:ext cx="5144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Fine-tuned detector, the same frame: no false object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4526280"/>
            <a:ext cx="5144871" cy="132588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96696" y="4672584"/>
            <a:ext cx="47791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The support check: 2,771 →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4967224"/>
            <a:ext cx="47791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An object is reported only if something supports it. Seven scenes: false object-pairs 2,771 → 1, all 2,100 real ones kept.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4526280"/>
            <a:ext cx="5144871" cy="1325880"/>
          </a:xfrm>
          <a:prstGeom prst="roundRect">
            <a:avLst>
              <a:gd name="adj" fmla="val 6000"/>
            </a:avLst>
          </a:prstGeom>
          <a:solidFill>
            <a:srgbClr val="DCEBE8"/>
          </a:solidFill>
          <a:ln w="9525">
            <a:solidFill>
              <a:srgbClr val="0E7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5887" y="4672584"/>
            <a:ext cx="477911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Fine-tuning: 731 →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4967224"/>
            <a:ext cx="47791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On 360 real frames of ten unscored layouts. mAP@0.5:0.95 0.670 → 0.934; false objects over 22 recordings 731 →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Facts checked against hand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§9.7; scripts/predicate_accuracy.py, docs/predicate_labels.yaml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13 / 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13816" y="1600200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97496" y="1691640"/>
            <a:ext cx="3980383" cy="141732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80375" y="1837944"/>
            <a:ext cx="3614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on, in, clear: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5" y="2132584"/>
            <a:ext cx="361462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Precision 0.994 to 1.000, recall 1.000. The few false on and clear facts are one duplicate bottle in one dim scene.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3246120"/>
            <a:ext cx="3980383" cy="26060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B54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80375" y="3392424"/>
            <a:ext cx="36146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occluded_from: 0.557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0375" y="3687063"/>
            <a:ext cx="3614623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 half-hidden object (44–68% visible) reads as hidden from the camera whose estimate was refused. The definition fixed in advance is under 25% visible. And the fact cannot tell a blocked camera from a detector that missed.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06 ·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What it still gets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§9.4, §9.7, §9.8, §11; the live takes of 25 Oct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14 / 18</a:t>
            </a:r>
          </a:p>
        </p:txBody>
      </p:sp>
      <p:pic>
        <p:nvPicPr>
          <p:cNvPr id="7" name="Picture 6" descr="replay_t2_clutter_c_5s_cam_over.jpg"/>
          <p:cNvPicPr>
            <a:picLocks noChangeAspect="1"/>
          </p:cNvPicPr>
          <p:nvPr/>
        </p:nvPicPr>
        <p:blipFill>
          <a:blip r:embed="rId2"/>
          <a:srcRect l="1698" r="1698"/>
          <a:stretch>
            <a:fillRect/>
          </a:stretch>
        </p:blipFill>
        <p:spPr>
          <a:xfrm>
            <a:off x="813816" y="1645920"/>
            <a:ext cx="4023360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422452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t2_clutter_c from cam_over: the cube is small and far away. Fused, it is inside the threshold on 75.7% of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57216" y="1691640"/>
            <a:ext cx="622066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40096" y="1837944"/>
            <a:ext cx="58549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occluded_from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096" y="2132584"/>
            <a:ext cx="5854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 half-hidden object reads as hidden; precision 0.557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2743200"/>
            <a:ext cx="622066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40096" y="2889504"/>
            <a:ext cx="58549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A hand in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3184144"/>
            <a:ext cx="5854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 pose can register on the hand; a passing hand can start a duplicate track for one 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3794760"/>
            <a:ext cx="622066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40096" y="3941064"/>
            <a:ext cx="58549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Registration stalls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4235704"/>
            <a:ext cx="5854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About 1.1 s per new object per view, with nothing processed meanwhile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4846320"/>
            <a:ext cx="6220663" cy="932688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40096" y="4992624"/>
            <a:ext cx="58549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6222C"/>
                </a:solidFill>
                <a:latin typeface="Space Grotesk"/>
              </a:rPr>
              <a:t>One rig, one 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5287264"/>
            <a:ext cx="58549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Still scenes for every accuracy figure; four distractors, not eight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06 ·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On real frames, depth is what finds the 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§9.2, §9.9; 9,988 synthetic validation frames, 960 real frames of the 16 scored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15 / 18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13816" y="1600200"/>
          <a:ext cx="63093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97496" y="1645920"/>
            <a:ext cx="3980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736B"/>
                </a:solidFill>
                <a:latin typeface="Space Grotesk"/>
              </a:rPr>
              <a:t>+0.00076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7496" y="2113280"/>
            <a:ext cx="3980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what depth added on synthetic frames: nothing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7496" y="2788920"/>
            <a:ext cx="3980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736B"/>
                </a:solidFill>
                <a:latin typeface="Space Grotesk"/>
              </a:rPr>
              <a:t>+0.169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496" y="3256280"/>
            <a:ext cx="3980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what it adds on real frames; the cube's AP@0.5 goes 0.099 → 0.905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496" y="3931920"/>
            <a:ext cx="3980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736B"/>
                </a:solidFill>
                <a:latin typeface="Space Grotesk"/>
              </a:rPr>
              <a:t>0.934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496" y="4399280"/>
            <a:ext cx="3980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E4A54"/>
                </a:solidFill>
                <a:latin typeface="IBM Plex Sans"/>
              </a:rPr>
              <a:t>after fine-tuning on 360 real frames: most of the sim-to-real gap closed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06 ·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Four kinds of technique in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final report §4–7; CLAUDE.md, technique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16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1691640"/>
            <a:ext cx="5144871" cy="19202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6696" y="183794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837944"/>
            <a:ext cx="4468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Supervised 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169414"/>
            <a:ext cx="477911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An RGB-D YOLOv8n trained on 40,012 synthetic frames from Isaac Sim, then fine-tuned on 360 labelled real 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91640"/>
            <a:ext cx="5144871" cy="19202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15887" y="183794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6783" y="1837944"/>
            <a:ext cx="4468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A multimodal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169414"/>
            <a:ext cx="477911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A 4-channel early-fusion stem, its depth channel made by inflating the COCO weights; FoundationPose, a pretrained transformer; ONNX Runtime on CUDA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" y="3794760"/>
            <a:ext cx="5144871" cy="19202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6696" y="394106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3941064"/>
            <a:ext cx="4468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Hybrid estimation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272534"/>
            <a:ext cx="477911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Two per-view estimators combined by confidence weighting, a disagreement gate and depth evidence; a learned front end with a classical EKF behind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794760"/>
            <a:ext cx="5144871" cy="1920240"/>
          </a:xfrm>
          <a:prstGeom prst="roundRect">
            <a:avLst>
              <a:gd name="adj" fmla="val 6000"/>
            </a:avLst>
          </a:prstGeom>
          <a:solidFill>
            <a:srgbClr val="FBFAF6"/>
          </a:solidFill>
          <a:ln w="9525">
            <a:solidFill>
              <a:srgbClr val="D3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15887" y="3941064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36B"/>
                </a:solidFill>
                <a:latin typeface="Space Grotes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6783" y="3941064"/>
            <a:ext cx="4468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Intelligent sensing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4272534"/>
            <a:ext cx="4779111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E4A54"/>
                </a:solidFill>
                <a:latin typeface="IBM Plex Sans"/>
              </a:rPr>
              <a:t>Two calibrated RGB-D cameras; each camera's depth used as evidence against the other's poses; poses turned into relational facts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640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E736B"/>
                </a:solidFill>
                <a:latin typeface="IBM Plex Mono"/>
              </a:rPr>
              <a:t>07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64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6222C"/>
                </a:solidFill>
                <a:latin typeface="Space Grotesk"/>
              </a:rPr>
              <a:t>What a planner receives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5961888"/>
            <a:ext cx="105640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E6973"/>
                </a:solidFill>
                <a:latin typeface="IBM Plex Sans"/>
              </a:rPr>
              <a:t>Source: demo_live_d at 60 s; INTERFACES.md §5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63093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E6973"/>
                </a:solidFill>
                <a:latin typeface="IBM Plex Sans"/>
              </a:rPr>
              <a:t>The Eyes · Group 12 ·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0599" y="630936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E6973"/>
                </a:solidFill>
                <a:latin typeface="IBM Plex Mono"/>
              </a:rP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" y="1691640"/>
            <a:ext cx="5099151" cy="4114800"/>
          </a:xfrm>
          <a:prstGeom prst="roundRect">
            <a:avLst>
              <a:gd name="adj" fmla="val 6000"/>
            </a:avLst>
          </a:prstGeom>
          <a:solidFill>
            <a:srgbClr val="16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88136" y="1828800"/>
            <a:ext cx="4550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CABD"/>
                </a:solidFill>
                <a:latin typeface="IBM Plex Mono"/>
              </a:rPr>
              <a:t>(:init …) as emitted, live, at 60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240280"/>
            <a:ext cx="4550511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(:init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  (clear bowl_02)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  (clear mustard_bottle_01)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  (clear red_cube_04)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  (in red_cube_04 bowl_02)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  (on bowl_02 table_01)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  (on mustard_bottle_01 table_01)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E6ECEA"/>
                </a:solidFill>
                <a:latin typeface="IBM Plex Mono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91640"/>
            <a:ext cx="509915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222C"/>
                </a:solidFill>
                <a:latin typeface="Space Grotesk"/>
              </a:rPr>
              <a:t>ObjectState: a fixed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148840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id, cls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instance and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532888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pose_w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fused 6-DoF pose, table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916936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confidence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fused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3300984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relations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filled by the scene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685032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visible_views, observed_views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fused from, seen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4069080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extent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half-extents, axis-aligned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4453128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position_sigma_m, orientation_sigma_rad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4837176"/>
            <a:ext cx="50991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E736B"/>
                </a:solidFill>
                <a:latin typeface="IBM Plex Mono"/>
              </a:rPr>
              <a:t>velocity_w, stamp_ns</a:t>
            </a:r>
            <a:r>
              <a:rPr sz="1300" b="0" i="0">
                <a:solidFill>
                  <a:srgbClr val="3E4A54"/>
                </a:solidFill>
                <a:latin typeface="IBM Plex Sans"/>
              </a:rPr>
              <a:t>  motion and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303520"/>
            <a:ext cx="509915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222C"/>
                </a:solidFill>
                <a:latin typeface="IBM Plex Sans"/>
              </a:rPr>
              <a:t>Fields may be added, never removed or re-typed: the capstone, MANIP-WM, builds on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822960"/>
            <a:ext cx="10564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CABD"/>
                </a:solidFill>
                <a:latin typeface="IBM Plex Mono"/>
              </a:rPr>
              <a:t>THE EYES ·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1234440"/>
            <a:ext cx="105640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pace Grotesk"/>
              </a:rPr>
              <a:t>Two cameras do see more than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2148840"/>
            <a:ext cx="91924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8D3D8"/>
                </a:solidFill>
                <a:latin typeface="Space Grotesk"/>
              </a:rPr>
              <a:t>But the second camera matters most as a witness: it is what tells you when the first one is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3611880"/>
            <a:ext cx="24352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CCABD"/>
                </a:solidFill>
                <a:latin typeface="Space Grotesk"/>
              </a:rPr>
              <a:t>2.76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4206240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8D3D8"/>
                </a:solidFill>
                <a:latin typeface="IBM Plex Sans"/>
              </a:rPr>
              <a:t>fused ADD-S over the 16 scored scenes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3411" y="3611880"/>
            <a:ext cx="24352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CCABD"/>
                </a:solidFill>
                <a:latin typeface="Space Grotesk"/>
              </a:rPr>
              <a:t>every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3411" y="4206240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8D3D8"/>
                </a:solidFill>
                <a:latin typeface="IBM Plex Sans"/>
              </a:rPr>
              <a:t>an object hidden from one camera, still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3611880"/>
            <a:ext cx="24352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CCABD"/>
                </a:solidFill>
                <a:latin typeface="Space Grotesk"/>
              </a:rPr>
              <a:t>9.8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4206240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8D3D8"/>
                </a:solidFill>
                <a:latin typeface="IBM Plex Sans"/>
              </a:rPr>
              <a:t>the gate's margin over a plain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603" y="3611880"/>
            <a:ext cx="24352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CCABD"/>
                </a:solidFill>
                <a:latin typeface="Space Grotesk"/>
              </a:rPr>
              <a:t>≥ 0.994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603" y="4206240"/>
            <a:ext cx="24352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8D3D8"/>
                </a:solidFill>
                <a:latin typeface="IBM Plex Sans"/>
              </a:rPr>
              <a:t>precision of on, in and clear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5577840"/>
            <a:ext cx="105640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7A0"/>
                </a:solidFill>
                <a:latin typeface="IBM Plex Sans"/>
              </a:rPr>
              <a:t>Code built with Claude Code under the author's design and review.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7A0"/>
                </a:solidFill>
                <a:latin typeface="IBM Plex Sans"/>
              </a:rPr>
              <a:t>Chan Wai Jye · Group 12 · AIS08 · 31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