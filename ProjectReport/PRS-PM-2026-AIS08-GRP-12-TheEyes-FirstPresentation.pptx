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Eyes is the perception layer for a tabletop robot: two depth cameras, detection, 6-DoF pose, fusion across the two views, and a symbolic scene graph a planner can use. This is a solo project; the code was built with Claude Code under my design and review. The photo is the rig itself: two RealSense cameras on tripods, and the three printed objects in their marker trays.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motivation. A single camera fails under occlusion. Adding a second view fixes visibility but creates a new problem: two estimates per object that disagree. On this rig the first real run showed 11 mm between views. So the project has to answer three questions a single camera never asks: association, arbitration, and turning poses into symbols. The occlusion ablation tests how well those answers hold up on real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Five goals. G1 to G3 are the pipeline: detection and pose, fusion, and the scene graph. G4 is an honest sim-to-real measurement, because the detector is trained on synthetic data only. G5 is breadth: all four PRS technique categories in one system. Along the bottom, where it fits: the previous module's Planner consumes these facts, and the capstone's world model will run on the object state this project defines, so that interface has to stay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Scope is deliberately closed-set: rigid objects with known CAD models, because FoundationPose needs a mesh. Two D435i cameras, one GPU workstation. Out of scope: open vocabulary, deformable objects, and the robot arm itself. The live Planner demo was cut on 8 September; logged planning output covers that instead. The MVP line at the bottom is what must ship. The occlusion ablation is the main experiment and is never cut. Everything else has a fixed cut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rig itself: two RealSense D435i cameras on tripods with boom arms, about 0.73 m apart with roughly 79 degrees between their views (calibrated 20 September), linked by a hardware-sync cable so both capture at the same moment. The printed objects sit in their marker trays on the desk, and one workstation runs the whole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Three kinds of data. Training is fully synthetic: 50,000 RGB-D frames from Isaac Sim with domain randomisation, and the depth passes through a noise model I measured on the real cameras. The three object classes are 3D printed from the same meshes, so any pose error is the estimator's, not a mismatched object. Real evaluation is ten scenes in four difficulty tiers, recorded once and replayed identically for every ablation arm. That capture has not happened yet; it is the main remaining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How I get ground truth without modifying the objects. Each object sits in a printed tray whose socket is cut from that object's own mesh, with ArUco markers in the same plate. Only the camera-to-marker transform is observed; the rest comes from CAD. The worst socket clearance, 0.23 mm, bounds the ground-truth error, about 1% of the bottle's ADD-S threshold. The left image is a real still from the front camera on 20 September; the right photo, from 29 September, shows the objects seated in their trays beside the ChArUco board used to calibrate both cameras. The markers are used only to score, never by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 whole runtime is one C++ process. Top row runs once per camera: frames from two D435i units selected by serial number and hardware-synced; the RGB-D detector; FoundationPose for a 6-DoF pose; then each pose is lifted into a shared table frame using the calibration. Bottom row runs once per frame pair, and the three starred modules are the project's core modules, written from first principles in C++ with no library: association across views, fusion with a disagreement gate, confidence weighting and an EKF, and the scene graph that emits relations and PDDL facts. Every run is logged to SQLite, and recorded sessions replay bit-exact.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Three networks run at inference. Only the detector is trained here: YOLOv8n with a four-channel stem, RGB plus aligned metric depth. The depth channel costs just 144 parameters, and I initialise it from the mean of the pretrained RGB filters rather than leaving it random, which the library would otherwise do. FoundationPose's refiner and scorer are pretrained and frozen; they need only a CAD mesh per object, not retraining. The scorer's output is what fusion uses as a confidence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 three starred modules in more detail. Association first moves everything into the table frame so the 150 mm radius and the gate are in millimetres, not pixels. Fusion gates on disagreement over 50 mm or 30 degrees, weights by the pose score, averages rotations with Markley's eigenvector method, and smooths with a per-object EKF. The scene graph turns poses into relations with geometric rules; one real bug taught me that 'in' needs a declared container. The ObjectState struct is a contract for later modules: fields can be added, never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project covers all four PRS technique categories. Supervised learning is the detector; the unsupervised part is DBSCAN for unknown objects, which is planned but sits above the MVP, so it is second in the cut order. If it is cut, category one is still covered by the supervised detector. Deep learning is the multimodal detector and FoundationPose. Hybrid is the fusion of two estimators with a classical filter. Sensing is the calibrated dual-camera rig and the step from poses to symbols.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Where things stand. The hardware is verified: both cameras at 30 fps, hardware-synced to about a millisecond. Calibration was redone on 20 September after I found a slipping mount. The detector is trained and running in C++ on the GPU. The fusion ablation has run, but only on synthetic input, and I label it that way everywhere. The whole chain has run live on the rig. The honest gap is the last row: no real-capture accuracy numbers yet. That is October's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A live frame from the running system on 29 September, with the real pose estimator. Top row: both camera views; the boxes come from the detector, and the axes are the fused pose projected back into each view, so they show the world estimate agrees with the pixels. Bottom left: the same objects in the table frame. Bottom right: the scene graph and the PDDL facts it emits; here all three objects are on the table and clear. Over 200 live pairs the median was about 90 ms per pair. Two caveats: the detector is still trained only on synthetic data, and in other frames it fired on the monitor; and there is no ground truth in this run, so it shows the chain working, not its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detector reaches 0.957 mAP at 0.5 to 0.95 on synthetic validation. The interesting result is negative: an RGB-only twin on identical frames scores within 0.00076, so depth added nothing measurable here. The dataset-size ablation shows the task is not saturated, since eight times more data still gains 0.032, mostly on the small cube. So the headroom is in localisation, and early-fusion depth does not reach it. Real captures are where depth could still matter, because real depth has holes and the real appearance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Eight arms, so that views, fusion policy and the temporal filter each vary independently. Read rows in pairs that differ in one thing. The second camera lifts recall from 0.35 to 0.49. The EKF buys about 2.7 mm. The gate policy buys nothing here, and that is correct: with symmetric Gaussian noise there is nothing to reject. An earlier four-arm version credited the EKF's gain to the policy; splitting the arms fixed that confound. The gate earns its place only when one view is confidently wrong, and a unit test with an 8 cm outlier shows it winning then. Whether FoundationPose produces such views on this rig is what the real ablation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Two pieces of real evidence. On 6 September the whole chain ran live on a printed cube: both views fused into one object on every one of 150 pairs, 11 mm apart, well inside the gate. That shows the multi-view path works end to end, but it is not an accuracy number. On 20 September the ground-truth trays were solved from real stills: the bowl and bottle agree across cameras to under 4 mm; the cube is weakest at 7.55 mm and needs work. Real data also exposed two things synthetic data could not: pose scores do vary, and the room is far darker than the training renders.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plan to 31 October. First the lighting, because glare clips the markers and the scene is darker than the training data. Then fit checks, then the capture: ten scenes in four tiers, with T4, targets under a quarter visible from one camera, the main test of the multi-view approach. Then the scores and the eight-arm ablation with bootstrap confidence intervals over scenes. The negative outcome is written down before any data is seen, so the result gets reported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in 20 seconds, then questions. Likely questions: why depth did not help (answer: the negative result and the dataset-size ablation); why not just average the two views (answer: the gate only matters for confidently wrong views, which the real ablation tests); how ground truth is trusted (answer: the tray chain, 0.23 mm clearance, callipered markers, cross-camera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pic>
        <p:nvPicPr>
          <p:cNvPr id="2" name="Image 0" descr="The rig: two RealSense D435i cameras on tripods with boom arms, aimed at a desk holding the printed blue bowl, red cube and yellow bottle in grey ArUco marker trays">    </p:cNvPr>
          <p:cNvPicPr>
            <a:picLocks noChangeAspect="1"/>
          </p:cNvPicPr>
          <p:nvPr/>
        </p:nvPicPr>
        <p:blipFill>
          <a:blip r:embed="rId1"/>
          <a:srcRect l="0" r="0" t="0" b="0"/>
          <a:stretch/>
        </p:blipFill>
        <p:spPr>
          <a:xfrm>
            <a:off x="6604000" y="0"/>
            <a:ext cx="5588000" cy="6858000"/>
          </a:xfrm>
          <a:prstGeom prst="rect">
            <a:avLst/>
          </a:prstGeom>
        </p:spPr>
      </p:pic>
      <p:sp>
        <p:nvSpPr>
          <p:cNvPr id="3" name="Shape 0"/>
          <p:cNvSpPr/>
          <p:nvPr/>
        </p:nvSpPr>
        <p:spPr>
          <a:xfrm>
            <a:off x="6604000" y="0"/>
            <a:ext cx="762000" cy="6858000"/>
          </a:xfrm>
          <a:prstGeom prst="rect">
            <a:avLst/>
          </a:prstGeom>
          <a:gradFill rotWithShape="1">
            <a:gsLst>
              <a:gs pos="0">
                <a:srgbClr val="14202B"/>
              </a:gs>
              <a:gs pos="100000">
                <a:srgbClr val="14202B">
                  <a:alpha val="0"/>
                </a:srgbClr>
              </a:gs>
            </a:gsLst>
            <a:lin ang="0" scaled="0"/>
          </a:gradFill>
          <a:ln/>
        </p:spPr>
      </p:sp>
      <p:sp>
        <p:nvSpPr>
          <p:cNvPr id="4" name="Text 1"/>
          <p:cNvSpPr/>
          <p:nvPr/>
        </p:nvSpPr>
        <p:spPr>
          <a:xfrm>
            <a:off x="812767" y="812767"/>
            <a:ext cx="562483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CCABD"/>
                </a:solidFill>
                <a:latin typeface="IBM Plex Mono" pitchFamily="34" charset="0"/>
                <a:ea typeface="IBM Plex Mono" pitchFamily="34" charset="-122"/>
                <a:cs typeface="IBM Plex Mono" pitchFamily="34" charset="-120"/>
              </a:rPr>
              <a:t>PRS PRACTICE MODULE · FIRST PRESENTATION</a:t>
            </a:r>
            <a:endParaRPr lang="en-US" sz="1200" dirty="0"/>
          </a:p>
        </p:txBody>
      </p:sp>
      <p:sp>
        <p:nvSpPr>
          <p:cNvPr id="5" name="Text 2"/>
          <p:cNvSpPr/>
          <p:nvPr/>
        </p:nvSpPr>
        <p:spPr>
          <a:xfrm>
            <a:off x="812767" y="2140148"/>
            <a:ext cx="5624830" cy="1168400"/>
          </a:xfrm>
          <a:prstGeom prst="rect">
            <a:avLst/>
          </a:prstGeom>
          <a:noFill/>
          <a:ln/>
        </p:spPr>
        <p:txBody>
          <a:bodyPr wrap="square" lIns="0" tIns="0" rIns="0" bIns="0" rtlCol="0" anchor="t">
            <a:normAutofit/>
          </a:bodyPr>
          <a:lstStyle/>
          <a:p>
            <a:pPr algn="l" indent="0" marL="0">
              <a:lnSpc>
                <a:spcPts val="9000"/>
              </a:lnSpc>
              <a:buNone/>
            </a:pPr>
            <a:r>
              <a:rPr lang="en-US" sz="9000" b="1" dirty="0">
                <a:solidFill>
                  <a:srgbClr val="F4F2EC"/>
                </a:solidFill>
                <a:latin typeface="Space Grotesk" pitchFamily="34" charset="0"/>
                <a:ea typeface="Space Grotesk" pitchFamily="34" charset="-122"/>
                <a:cs typeface="Space Grotesk" pitchFamily="34" charset="-120"/>
              </a:rPr>
              <a:t>The Eyes</a:t>
            </a:r>
            <a:endParaRPr lang="en-US" sz="9000" dirty="0"/>
          </a:p>
        </p:txBody>
      </p:sp>
      <p:sp>
        <p:nvSpPr>
          <p:cNvPr id="6" name="Text 3"/>
          <p:cNvSpPr/>
          <p:nvPr/>
        </p:nvSpPr>
        <p:spPr>
          <a:xfrm>
            <a:off x="812767" y="3460915"/>
            <a:ext cx="5624830" cy="723735"/>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C8D3D8"/>
                </a:solidFill>
                <a:latin typeface="Space Grotesk" pitchFamily="34" charset="0"/>
                <a:ea typeface="Space Grotesk" pitchFamily="34" charset="-122"/>
                <a:cs typeface="Space Grotesk" pitchFamily="34" charset="-120"/>
              </a:rPr>
              <a:t>Multi-view perception and scene understanding for robot manipulation</a:t>
            </a:r>
            <a:endParaRPr lang="en-US" sz="2200" dirty="0"/>
          </a:p>
        </p:txBody>
      </p:sp>
      <p:sp>
        <p:nvSpPr>
          <p:cNvPr id="7" name="Text 4"/>
          <p:cNvSpPr/>
          <p:nvPr/>
        </p:nvSpPr>
        <p:spPr>
          <a:xfrm>
            <a:off x="812767" y="5273229"/>
            <a:ext cx="5624830" cy="558701"/>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2EC"/>
                </a:solidFill>
                <a:latin typeface="IBM Plex Sans" pitchFamily="34" charset="0"/>
                <a:ea typeface="IBM Plex Sans" pitchFamily="34" charset="-122"/>
                <a:cs typeface="IBM Plex Sans" pitchFamily="34" charset="-120"/>
              </a:rPr>
              <a:t>Group 12 · AIS08 · Chan Wai Jye (solo · AI-assisted development)</a:t>
            </a:r>
            <a:endParaRPr lang="en-US" sz="1500" dirty="0"/>
          </a:p>
        </p:txBody>
      </p:sp>
      <p:sp>
        <p:nvSpPr>
          <p:cNvPr id="8" name="Text 5"/>
          <p:cNvSpPr/>
          <p:nvPr/>
        </p:nvSpPr>
        <p:spPr>
          <a:xfrm>
            <a:off x="812767" y="5831913"/>
            <a:ext cx="56248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D3D8"/>
                </a:solidFill>
                <a:latin typeface="IBM Plex Mono" pitchFamily="34" charset="0"/>
                <a:ea typeface="IBM Plex Mono" pitchFamily="34" charset="-122"/>
                <a:cs typeface="IBM Plex Mono" pitchFamily="34" charset="-120"/>
              </a:rPr>
              <a:t>30 September 2026</a:t>
            </a:r>
            <a:endParaRPr lang="en-US" sz="1200" dirty="0"/>
          </a:p>
        </p:txBody>
      </p:sp>
      <p:sp>
        <p:nvSpPr>
          <p:cNvPr id="9" name="Shape 6"/>
          <p:cNvSpPr/>
          <p:nvPr/>
        </p:nvSpPr>
        <p:spPr>
          <a:xfrm>
            <a:off x="6807150" y="6075825"/>
            <a:ext cx="3937000" cy="528174"/>
          </a:xfrm>
          <a:prstGeom prst="roundRect">
            <a:avLst>
              <a:gd name="adj" fmla="val 7214"/>
            </a:avLst>
          </a:prstGeom>
          <a:solidFill>
            <a:srgbClr val="14202B">
              <a:alpha val="72000"/>
            </a:srgbClr>
          </a:solidFill>
          <a:ln/>
        </p:spPr>
      </p:sp>
      <p:sp>
        <p:nvSpPr>
          <p:cNvPr id="10" name="Text 7"/>
          <p:cNvSpPr/>
          <p:nvPr/>
        </p:nvSpPr>
        <p:spPr>
          <a:xfrm>
            <a:off x="6896050" y="6126625"/>
            <a:ext cx="3871976" cy="45197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The rig: two D435i on tripods, printed objects in their marker trays, 29 Sep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01 · OBJECTIVES</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Why one camera is not enough</a:t>
            </a:r>
            <a:endParaRPr lang="en-US" sz="3200" dirty="0"/>
          </a:p>
        </p:txBody>
      </p:sp>
      <p:sp>
        <p:nvSpPr>
          <p:cNvPr id="4" name="Text 2"/>
          <p:cNvSpPr/>
          <p:nvPr/>
        </p:nvSpPr>
        <p:spPr>
          <a:xfrm>
            <a:off x="812767" y="1879451"/>
            <a:ext cx="4709160" cy="1771236"/>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16222C"/>
                </a:solidFill>
                <a:latin typeface="Space Grotesk" pitchFamily="34" charset="0"/>
                <a:ea typeface="Space Grotesk" pitchFamily="34" charset="-122"/>
                <a:cs typeface="Space Grotesk" pitchFamily="34" charset="-120"/>
              </a:rPr>
              <a:t>A mug behind a cereal box is invisible from the front. A second camera restores it, but now every object has </a:t>
            </a:r>
            <a:r>
              <a:rPr lang="en-US" sz="2200" b="1" dirty="0">
                <a:solidFill>
                  <a:srgbClr val="16222C"/>
                </a:solidFill>
                <a:latin typeface="Space Grotesk" pitchFamily="34" charset="0"/>
                <a:ea typeface="Space Grotesk" pitchFamily="34" charset="-122"/>
                <a:cs typeface="Space Grotesk" pitchFamily="34" charset="-120"/>
              </a:rPr>
              <a:t>two estimates that disagree</a:t>
            </a:r>
            <a:r>
              <a:rPr lang="en-US" sz="2200" dirty="0">
                <a:solidFill>
                  <a:srgbClr val="16222C"/>
                </a:solidFill>
                <a:latin typeface="Space Grotesk" pitchFamily="34" charset="0"/>
                <a:ea typeface="Space Grotesk" pitchFamily="34" charset="-122"/>
                <a:cs typeface="Space Grotesk" pitchFamily="34" charset="-120"/>
              </a:rPr>
              <a:t>.</a:t>
            </a:r>
            <a:endParaRPr lang="en-US" sz="2200" dirty="0"/>
          </a:p>
        </p:txBody>
      </p:sp>
      <p:sp>
        <p:nvSpPr>
          <p:cNvPr id="5" name="Text 3"/>
          <p:cNvSpPr/>
          <p:nvPr/>
        </p:nvSpPr>
        <p:spPr>
          <a:xfrm>
            <a:off x="812767" y="3828438"/>
            <a:ext cx="4709160" cy="558701"/>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4"/>
                </a:solidFill>
                <a:latin typeface="IBM Plex Sans" pitchFamily="34" charset="0"/>
                <a:ea typeface="IBM Plex Sans" pitchFamily="34" charset="-122"/>
                <a:cs typeface="IBM Plex Sans" pitchFamily="34" charset="-120"/>
              </a:rPr>
              <a:t>In this rig's first real run, the two views of a printed cube disagreed by </a:t>
            </a:r>
            <a:r>
              <a:rPr lang="en-US" sz="1500" b="1" dirty="0">
                <a:solidFill>
                  <a:srgbClr val="0E736B"/>
                </a:solidFill>
                <a:latin typeface="IBM Plex Sans" pitchFamily="34" charset="0"/>
                <a:ea typeface="IBM Plex Sans" pitchFamily="34" charset="-122"/>
                <a:cs typeface="IBM Plex Sans" pitchFamily="34" charset="-120"/>
              </a:rPr>
              <a:t>11 mm</a:t>
            </a:r>
            <a:r>
              <a:rPr lang="en-US" sz="1500" dirty="0">
                <a:solidFill>
                  <a:srgbClr val="3E4A54"/>
                </a:solidFill>
                <a:latin typeface="IBM Plex Sans" pitchFamily="34" charset="0"/>
                <a:ea typeface="IBM Plex Sans" pitchFamily="34" charset="-122"/>
                <a:cs typeface="IBM Plex Sans" pitchFamily="34" charset="-120"/>
              </a:rPr>
              <a:t>.</a:t>
            </a:r>
            <a:endParaRPr lang="en-US" sz="1500" dirty="0"/>
          </a:p>
        </p:txBody>
      </p:sp>
      <p:sp>
        <p:nvSpPr>
          <p:cNvPr id="6" name="Shape 4"/>
          <p:cNvSpPr/>
          <p:nvPr/>
        </p:nvSpPr>
        <p:spPr>
          <a:xfrm>
            <a:off x="5797500" y="1885801"/>
            <a:ext cx="5575383" cy="887214"/>
          </a:xfrm>
          <a:prstGeom prst="roundRect">
            <a:avLst>
              <a:gd name="adj" fmla="val 10736"/>
            </a:avLst>
          </a:prstGeom>
          <a:solidFill>
            <a:srgbClr val="FBFAF6"/>
          </a:solidFill>
          <a:ln w="12700">
            <a:solidFill>
              <a:srgbClr val="D3D6D2"/>
            </a:solidFill>
            <a:prstDash val="solid"/>
          </a:ln>
        </p:spPr>
      </p:sp>
      <p:sp>
        <p:nvSpPr>
          <p:cNvPr id="7" name="Text 5"/>
          <p:cNvSpPr/>
          <p:nvPr/>
        </p:nvSpPr>
        <p:spPr>
          <a:xfrm>
            <a:off x="6004884" y="2042418"/>
            <a:ext cx="5315434"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736B"/>
                </a:solidFill>
                <a:latin typeface="Space Grotesk" pitchFamily="34" charset="0"/>
                <a:ea typeface="Space Grotesk" pitchFamily="34" charset="-122"/>
                <a:cs typeface="Space Grotesk" pitchFamily="34" charset="-120"/>
              </a:rPr>
              <a:t>1</a:t>
            </a:r>
            <a:r>
              <a:rPr lang="en-US" sz="1800" b="1" dirty="0">
                <a:solidFill>
                  <a:srgbClr val="16222C"/>
                </a:solidFill>
                <a:latin typeface="Space Grotesk" pitchFamily="34" charset="0"/>
                <a:ea typeface="Space Grotesk" pitchFamily="34" charset="-122"/>
                <a:cs typeface="Space Grotesk" pitchFamily="34" charset="-120"/>
              </a:rPr>
              <a:t> Association</a:t>
            </a:r>
            <a:endParaRPr lang="en-US" sz="1800" dirty="0"/>
          </a:p>
        </p:txBody>
      </p:sp>
      <p:sp>
        <p:nvSpPr>
          <p:cNvPr id="8" name="Text 6"/>
          <p:cNvSpPr/>
          <p:nvPr/>
        </p:nvSpPr>
        <p:spPr>
          <a:xfrm>
            <a:off x="6004884" y="2367524"/>
            <a:ext cx="5315434" cy="27427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4"/>
                </a:solidFill>
                <a:latin typeface="IBM Plex Sans" pitchFamily="34" charset="0"/>
                <a:ea typeface="IBM Plex Sans" pitchFamily="34" charset="-122"/>
                <a:cs typeface="IBM Plex Sans" pitchFamily="34" charset="-120"/>
              </a:rPr>
              <a:t>Which detection in one view is the same object in the other?</a:t>
            </a:r>
            <a:endParaRPr lang="en-US" sz="1400" dirty="0"/>
          </a:p>
        </p:txBody>
      </p:sp>
      <p:sp>
        <p:nvSpPr>
          <p:cNvPr id="9" name="Shape 7"/>
          <p:cNvSpPr/>
          <p:nvPr/>
        </p:nvSpPr>
        <p:spPr>
          <a:xfrm>
            <a:off x="5797500" y="2912715"/>
            <a:ext cx="5575383" cy="1136088"/>
          </a:xfrm>
          <a:prstGeom prst="roundRect">
            <a:avLst>
              <a:gd name="adj" fmla="val 8384"/>
            </a:avLst>
          </a:prstGeom>
          <a:solidFill>
            <a:srgbClr val="FBFAF6"/>
          </a:solidFill>
          <a:ln w="12700">
            <a:solidFill>
              <a:srgbClr val="D3D6D2"/>
            </a:solidFill>
            <a:prstDash val="solid"/>
          </a:ln>
        </p:spPr>
      </p:sp>
      <p:sp>
        <p:nvSpPr>
          <p:cNvPr id="10" name="Text 8"/>
          <p:cNvSpPr/>
          <p:nvPr/>
        </p:nvSpPr>
        <p:spPr>
          <a:xfrm>
            <a:off x="6004884" y="3069332"/>
            <a:ext cx="5315434"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736B"/>
                </a:solidFill>
                <a:latin typeface="Space Grotesk" pitchFamily="34" charset="0"/>
                <a:ea typeface="Space Grotesk" pitchFamily="34" charset="-122"/>
                <a:cs typeface="Space Grotesk" pitchFamily="34" charset="-120"/>
              </a:rPr>
              <a:t>2</a:t>
            </a:r>
            <a:r>
              <a:rPr lang="en-US" sz="1800" b="1" dirty="0">
                <a:solidFill>
                  <a:srgbClr val="16222C"/>
                </a:solidFill>
                <a:latin typeface="Space Grotesk" pitchFamily="34" charset="0"/>
                <a:ea typeface="Space Grotesk" pitchFamily="34" charset="-122"/>
                <a:cs typeface="Space Grotesk" pitchFamily="34" charset="-120"/>
              </a:rPr>
              <a:t> Arbitration</a:t>
            </a:r>
            <a:endParaRPr lang="en-US" sz="1800" dirty="0"/>
          </a:p>
        </p:txBody>
      </p:sp>
      <p:sp>
        <p:nvSpPr>
          <p:cNvPr id="11" name="Text 9"/>
          <p:cNvSpPr/>
          <p:nvPr/>
        </p:nvSpPr>
        <p:spPr>
          <a:xfrm>
            <a:off x="6004884" y="3394439"/>
            <a:ext cx="5315434" cy="5231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4"/>
                </a:solidFill>
                <a:latin typeface="IBM Plex Sans" pitchFamily="34" charset="0"/>
                <a:ea typeface="IBM Plex Sans" pitchFamily="34" charset="-122"/>
                <a:cs typeface="IBM Plex Sans" pitchFamily="34" charset="-120"/>
              </a:rPr>
              <a:t>Is a disagreement noise to average, or one wrong view to reject? Two cameras give no majority vote.</a:t>
            </a:r>
            <a:endParaRPr lang="en-US" sz="1400" dirty="0"/>
          </a:p>
        </p:txBody>
      </p:sp>
      <p:sp>
        <p:nvSpPr>
          <p:cNvPr id="12" name="Shape 10"/>
          <p:cNvSpPr/>
          <p:nvPr/>
        </p:nvSpPr>
        <p:spPr>
          <a:xfrm>
            <a:off x="5797500" y="4188502"/>
            <a:ext cx="5575383" cy="1136088"/>
          </a:xfrm>
          <a:prstGeom prst="roundRect">
            <a:avLst>
              <a:gd name="adj" fmla="val 8384"/>
            </a:avLst>
          </a:prstGeom>
          <a:solidFill>
            <a:srgbClr val="FBFAF6"/>
          </a:solidFill>
          <a:ln w="12700">
            <a:solidFill>
              <a:srgbClr val="D3D6D2"/>
            </a:solidFill>
            <a:prstDash val="solid"/>
          </a:ln>
        </p:spPr>
      </p:sp>
      <p:sp>
        <p:nvSpPr>
          <p:cNvPr id="13" name="Text 11"/>
          <p:cNvSpPr/>
          <p:nvPr/>
        </p:nvSpPr>
        <p:spPr>
          <a:xfrm>
            <a:off x="6004884" y="4345119"/>
            <a:ext cx="5315434"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736B"/>
                </a:solidFill>
                <a:latin typeface="Space Grotesk" pitchFamily="34" charset="0"/>
                <a:ea typeface="Space Grotesk" pitchFamily="34" charset="-122"/>
                <a:cs typeface="Space Grotesk" pitchFamily="34" charset="-120"/>
              </a:rPr>
              <a:t>3</a:t>
            </a:r>
            <a:r>
              <a:rPr lang="en-US" sz="1800" b="1" dirty="0">
                <a:solidFill>
                  <a:srgbClr val="16222C"/>
                </a:solidFill>
                <a:latin typeface="Space Grotesk" pitchFamily="34" charset="0"/>
                <a:ea typeface="Space Grotesk" pitchFamily="34" charset="-122"/>
                <a:cs typeface="Space Grotesk" pitchFamily="34" charset="-120"/>
              </a:rPr>
              <a:t> Symbolisation</a:t>
            </a:r>
            <a:endParaRPr lang="en-US" sz="1800" dirty="0"/>
          </a:p>
        </p:txBody>
      </p:sp>
      <p:sp>
        <p:nvSpPr>
          <p:cNvPr id="14" name="Text 12"/>
          <p:cNvSpPr/>
          <p:nvPr/>
        </p:nvSpPr>
        <p:spPr>
          <a:xfrm>
            <a:off x="6004884" y="4670227"/>
            <a:ext cx="5315434" cy="5231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4"/>
                </a:solidFill>
                <a:latin typeface="IBM Plex Sans" pitchFamily="34" charset="0"/>
                <a:ea typeface="IBM Plex Sans" pitchFamily="34" charset="-122"/>
                <a:cs typeface="IBM Plex Sans" pitchFamily="34" charset="-120"/>
              </a:rPr>
              <a:t>Turning noisy poses into facts: a pose 1 cm low once put a cube inside a 20 mm table.</a:t>
            </a:r>
            <a:endParaRPr lang="en-US" sz="1400" dirty="0"/>
          </a:p>
        </p:txBody>
      </p:sp>
      <p:sp>
        <p:nvSpPr>
          <p:cNvPr id="15" name="Text 13"/>
          <p:cNvSpPr/>
          <p:nvPr/>
        </p:nvSpPr>
        <p:spPr>
          <a:xfrm>
            <a:off x="812767" y="6286582"/>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16" name="Text 14"/>
          <p:cNvSpPr/>
          <p:nvPr/>
        </p:nvSpPr>
        <p:spPr>
          <a:xfrm>
            <a:off x="10830553" y="6286582"/>
            <a:ext cx="599397"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2 / 18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01 · OBJECTIVES</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Five project goals</a:t>
            </a:r>
            <a:endParaRPr lang="en-US" sz="3200" dirty="0"/>
          </a:p>
        </p:txBody>
      </p:sp>
      <p:sp>
        <p:nvSpPr>
          <p:cNvPr id="4" name="Shape 2"/>
          <p:cNvSpPr/>
          <p:nvPr/>
        </p:nvSpPr>
        <p:spPr>
          <a:xfrm>
            <a:off x="812767" y="1882626"/>
            <a:ext cx="10566466" cy="0"/>
          </a:xfrm>
          <a:prstGeom prst="line">
            <a:avLst/>
          </a:prstGeom>
          <a:noFill/>
          <a:ln w="6350">
            <a:solidFill>
              <a:srgbClr val="D3D6D2"/>
            </a:solidFill>
            <a:prstDash val="solid"/>
          </a:ln>
        </p:spPr>
      </p:sp>
      <p:sp>
        <p:nvSpPr>
          <p:cNvPr id="5" name="Text 3"/>
          <p:cNvSpPr/>
          <p:nvPr/>
        </p:nvSpPr>
        <p:spPr>
          <a:xfrm>
            <a:off x="812767" y="1973625"/>
            <a:ext cx="558800"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736B"/>
                </a:solidFill>
                <a:latin typeface="IBM Plex Mono" pitchFamily="34" charset="0"/>
                <a:ea typeface="IBM Plex Mono" pitchFamily="34" charset="-122"/>
                <a:cs typeface="IBM Plex Mono" pitchFamily="34" charset="-120"/>
              </a:rPr>
              <a:t>G1</a:t>
            </a:r>
            <a:endParaRPr lang="en-US" sz="1500" dirty="0"/>
          </a:p>
        </p:txBody>
      </p:sp>
      <p:sp>
        <p:nvSpPr>
          <p:cNvPr id="6" name="Text 4"/>
          <p:cNvSpPr/>
          <p:nvPr/>
        </p:nvSpPr>
        <p:spPr>
          <a:xfrm>
            <a:off x="1523917" y="1973625"/>
            <a:ext cx="10150975" cy="29205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22C"/>
                </a:solidFill>
                <a:latin typeface="IBM Plex Sans" pitchFamily="34" charset="0"/>
                <a:ea typeface="IBM Plex Sans" pitchFamily="34" charset="-122"/>
                <a:cs typeface="IBM Plex Sans" pitchFamily="34" charset="-120"/>
              </a:rPr>
              <a:t>Supervised detection and 6-DoF pose pipeline: RGB-D YOLOv8 + FoundationPose on tabletop objects</a:t>
            </a:r>
            <a:endParaRPr lang="en-US" sz="1500" dirty="0"/>
          </a:p>
        </p:txBody>
      </p:sp>
      <p:sp>
        <p:nvSpPr>
          <p:cNvPr id="7" name="Shape 5"/>
          <p:cNvSpPr/>
          <p:nvPr/>
        </p:nvSpPr>
        <p:spPr>
          <a:xfrm>
            <a:off x="812767" y="2332335"/>
            <a:ext cx="10566466" cy="0"/>
          </a:xfrm>
          <a:prstGeom prst="line">
            <a:avLst/>
          </a:prstGeom>
          <a:noFill/>
          <a:ln w="6350">
            <a:solidFill>
              <a:srgbClr val="D3D6D2"/>
            </a:solidFill>
            <a:prstDash val="solid"/>
          </a:ln>
        </p:spPr>
      </p:sp>
      <p:sp>
        <p:nvSpPr>
          <p:cNvPr id="8" name="Text 6"/>
          <p:cNvSpPr/>
          <p:nvPr/>
        </p:nvSpPr>
        <p:spPr>
          <a:xfrm>
            <a:off x="812767" y="2423334"/>
            <a:ext cx="558800"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736B"/>
                </a:solidFill>
                <a:latin typeface="IBM Plex Mono" pitchFamily="34" charset="0"/>
                <a:ea typeface="IBM Plex Mono" pitchFamily="34" charset="-122"/>
                <a:cs typeface="IBM Plex Mono" pitchFamily="34" charset="-120"/>
              </a:rPr>
              <a:t>G2</a:t>
            </a:r>
            <a:endParaRPr lang="en-US" sz="1500" dirty="0"/>
          </a:p>
        </p:txBody>
      </p:sp>
      <p:sp>
        <p:nvSpPr>
          <p:cNvPr id="9" name="Text 7"/>
          <p:cNvSpPr/>
          <p:nvPr/>
        </p:nvSpPr>
        <p:spPr>
          <a:xfrm>
            <a:off x="1523917" y="2423334"/>
            <a:ext cx="10150975" cy="29205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22C"/>
                </a:solidFill>
                <a:latin typeface="IBM Plex Sans" pitchFamily="34" charset="0"/>
                <a:ea typeface="IBM Plex Sans" pitchFamily="34" charset="-122"/>
                <a:cs typeface="IBM Plex Sans" pitchFamily="34" charset="-120"/>
              </a:rPr>
              <a:t>Object-level fusion of two RGB-D cameras, to resolve occlusion</a:t>
            </a:r>
            <a:endParaRPr lang="en-US" sz="1500" dirty="0"/>
          </a:p>
        </p:txBody>
      </p:sp>
      <p:sp>
        <p:nvSpPr>
          <p:cNvPr id="10" name="Shape 8"/>
          <p:cNvSpPr/>
          <p:nvPr/>
        </p:nvSpPr>
        <p:spPr>
          <a:xfrm>
            <a:off x="812767" y="2782044"/>
            <a:ext cx="10566466" cy="0"/>
          </a:xfrm>
          <a:prstGeom prst="line">
            <a:avLst/>
          </a:prstGeom>
          <a:noFill/>
          <a:ln w="6350">
            <a:solidFill>
              <a:srgbClr val="D3D6D2"/>
            </a:solidFill>
            <a:prstDash val="solid"/>
          </a:ln>
        </p:spPr>
      </p:sp>
      <p:sp>
        <p:nvSpPr>
          <p:cNvPr id="11" name="Text 9"/>
          <p:cNvSpPr/>
          <p:nvPr/>
        </p:nvSpPr>
        <p:spPr>
          <a:xfrm>
            <a:off x="812767" y="2873043"/>
            <a:ext cx="558800"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736B"/>
                </a:solidFill>
                <a:latin typeface="IBM Plex Mono" pitchFamily="34" charset="0"/>
                <a:ea typeface="IBM Plex Mono" pitchFamily="34" charset="-122"/>
                <a:cs typeface="IBM Plex Mono" pitchFamily="34" charset="-120"/>
              </a:rPr>
              <a:t>G3</a:t>
            </a:r>
            <a:endParaRPr lang="en-US" sz="1500" dirty="0"/>
          </a:p>
        </p:txBody>
      </p:sp>
      <p:sp>
        <p:nvSpPr>
          <p:cNvPr id="12" name="Text 10"/>
          <p:cNvSpPr/>
          <p:nvPr/>
        </p:nvSpPr>
        <p:spPr>
          <a:xfrm>
            <a:off x="1523917" y="2873043"/>
            <a:ext cx="10150975" cy="29205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22C"/>
                </a:solidFill>
                <a:latin typeface="IBM Plex Sans" pitchFamily="34" charset="0"/>
                <a:ea typeface="IBM Plex Sans" pitchFamily="34" charset="-122"/>
                <a:cs typeface="IBM Plex Sans" pitchFamily="34" charset="-120"/>
              </a:rPr>
              <a:t>A C++ scene-graph bridge from fused poses to relations and PDDL facts</a:t>
            </a:r>
            <a:endParaRPr lang="en-US" sz="1500" dirty="0"/>
          </a:p>
        </p:txBody>
      </p:sp>
      <p:sp>
        <p:nvSpPr>
          <p:cNvPr id="13" name="Shape 11"/>
          <p:cNvSpPr/>
          <p:nvPr/>
        </p:nvSpPr>
        <p:spPr>
          <a:xfrm>
            <a:off x="812767" y="3231753"/>
            <a:ext cx="10566466" cy="0"/>
          </a:xfrm>
          <a:prstGeom prst="line">
            <a:avLst/>
          </a:prstGeom>
          <a:noFill/>
          <a:ln w="6350">
            <a:solidFill>
              <a:srgbClr val="D3D6D2"/>
            </a:solidFill>
            <a:prstDash val="solid"/>
          </a:ln>
        </p:spPr>
      </p:sp>
      <p:sp>
        <p:nvSpPr>
          <p:cNvPr id="14" name="Text 12"/>
          <p:cNvSpPr/>
          <p:nvPr/>
        </p:nvSpPr>
        <p:spPr>
          <a:xfrm>
            <a:off x="812767" y="3322752"/>
            <a:ext cx="558800"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736B"/>
                </a:solidFill>
                <a:latin typeface="IBM Plex Mono" pitchFamily="34" charset="0"/>
                <a:ea typeface="IBM Plex Mono" pitchFamily="34" charset="-122"/>
                <a:cs typeface="IBM Plex Mono" pitchFamily="34" charset="-120"/>
              </a:rPr>
              <a:t>G4</a:t>
            </a:r>
            <a:endParaRPr lang="en-US" sz="1500" dirty="0"/>
          </a:p>
        </p:txBody>
      </p:sp>
      <p:sp>
        <p:nvSpPr>
          <p:cNvPr id="15" name="Text 13"/>
          <p:cNvSpPr/>
          <p:nvPr/>
        </p:nvSpPr>
        <p:spPr>
          <a:xfrm>
            <a:off x="1523917" y="3322752"/>
            <a:ext cx="10150975" cy="29205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22C"/>
                </a:solidFill>
                <a:latin typeface="IBM Plex Sans" pitchFamily="34" charset="0"/>
                <a:ea typeface="IBM Plex Sans" pitchFamily="34" charset="-122"/>
                <a:cs typeface="IBM Plex Sans" pitchFamily="34" charset="-120"/>
              </a:rPr>
              <a:t>A measured sim-to-real gap: train on Isaac Sim data, evaluate on real captures</a:t>
            </a:r>
            <a:endParaRPr lang="en-US" sz="1500" dirty="0"/>
          </a:p>
        </p:txBody>
      </p:sp>
      <p:sp>
        <p:nvSpPr>
          <p:cNvPr id="16" name="Shape 14"/>
          <p:cNvSpPr/>
          <p:nvPr/>
        </p:nvSpPr>
        <p:spPr>
          <a:xfrm>
            <a:off x="812767" y="3681462"/>
            <a:ext cx="10566466" cy="0"/>
          </a:xfrm>
          <a:prstGeom prst="line">
            <a:avLst/>
          </a:prstGeom>
          <a:noFill/>
          <a:ln w="6350">
            <a:solidFill>
              <a:srgbClr val="D3D6D2"/>
            </a:solidFill>
            <a:prstDash val="solid"/>
          </a:ln>
        </p:spPr>
      </p:sp>
      <p:sp>
        <p:nvSpPr>
          <p:cNvPr id="17" name="Text 15"/>
          <p:cNvSpPr/>
          <p:nvPr/>
        </p:nvSpPr>
        <p:spPr>
          <a:xfrm>
            <a:off x="812767" y="3772461"/>
            <a:ext cx="558800"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736B"/>
                </a:solidFill>
                <a:latin typeface="IBM Plex Mono" pitchFamily="34" charset="0"/>
                <a:ea typeface="IBM Plex Mono" pitchFamily="34" charset="-122"/>
                <a:cs typeface="IBM Plex Mono" pitchFamily="34" charset="-120"/>
              </a:rPr>
              <a:t>G5</a:t>
            </a:r>
            <a:endParaRPr lang="en-US" sz="1500" dirty="0"/>
          </a:p>
        </p:txBody>
      </p:sp>
      <p:sp>
        <p:nvSpPr>
          <p:cNvPr id="18" name="Text 16"/>
          <p:cNvSpPr/>
          <p:nvPr/>
        </p:nvSpPr>
        <p:spPr>
          <a:xfrm>
            <a:off x="1523917" y="3772461"/>
            <a:ext cx="10150975" cy="29205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22C"/>
                </a:solidFill>
                <a:latin typeface="IBM Plex Sans" pitchFamily="34" charset="0"/>
                <a:ea typeface="IBM Plex Sans" pitchFamily="34" charset="-122"/>
                <a:cs typeface="IBM Plex Sans" pitchFamily="34" charset="-120"/>
              </a:rPr>
              <a:t>All four PRS technique categories in one runnable system</a:t>
            </a:r>
            <a:endParaRPr lang="en-US" sz="1500" dirty="0"/>
          </a:p>
        </p:txBody>
      </p:sp>
      <p:sp>
        <p:nvSpPr>
          <p:cNvPr id="19" name="Shape 17"/>
          <p:cNvSpPr/>
          <p:nvPr/>
        </p:nvSpPr>
        <p:spPr>
          <a:xfrm>
            <a:off x="819117" y="4388346"/>
            <a:ext cx="3407866" cy="958238"/>
          </a:xfrm>
          <a:prstGeom prst="roundRect">
            <a:avLst>
              <a:gd name="adj" fmla="val 7289"/>
            </a:avLst>
          </a:prstGeom>
          <a:solidFill>
            <a:srgbClr val="FBFAF6"/>
          </a:solidFill>
          <a:ln w="12700">
            <a:solidFill>
              <a:srgbClr val="D3D6D2"/>
            </a:solidFill>
            <a:prstDash val="solid"/>
          </a:ln>
        </p:spPr>
      </p:sp>
      <p:sp>
        <p:nvSpPr>
          <p:cNvPr id="20" name="Text 18"/>
          <p:cNvSpPr/>
          <p:nvPr/>
        </p:nvSpPr>
        <p:spPr>
          <a:xfrm>
            <a:off x="1001117" y="4506846"/>
            <a:ext cx="313518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36B"/>
                </a:solidFill>
                <a:latin typeface="IBM Plex Mono" pitchFamily="34" charset="0"/>
                <a:ea typeface="IBM Plex Mono" pitchFamily="34" charset="-122"/>
                <a:cs typeface="IBM Plex Mono" pitchFamily="34" charset="-120"/>
              </a:rPr>
              <a:t>PM1 · DONE</a:t>
            </a:r>
            <a:endParaRPr lang="en-US" sz="1200" dirty="0"/>
          </a:p>
        </p:txBody>
      </p:sp>
      <p:sp>
        <p:nvSpPr>
          <p:cNvPr id="21" name="Text 19"/>
          <p:cNvSpPr/>
          <p:nvPr/>
        </p:nvSpPr>
        <p:spPr>
          <a:xfrm>
            <a:off x="1001117" y="4745549"/>
            <a:ext cx="313518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The Planner</a:t>
            </a:r>
            <a:endParaRPr lang="en-US" sz="1600" dirty="0"/>
          </a:p>
        </p:txBody>
      </p:sp>
      <p:sp>
        <p:nvSpPr>
          <p:cNvPr id="22" name="Text 20"/>
          <p:cNvSpPr/>
          <p:nvPr/>
        </p:nvSpPr>
        <p:spPr>
          <a:xfrm>
            <a:off x="1001117" y="5014764"/>
            <a:ext cx="31351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NL → PDDL plans; consumes our facts</a:t>
            </a:r>
            <a:endParaRPr lang="en-US" sz="1200" dirty="0"/>
          </a:p>
        </p:txBody>
      </p:sp>
      <p:sp>
        <p:nvSpPr>
          <p:cNvPr id="23" name="Shape 21"/>
          <p:cNvSpPr/>
          <p:nvPr/>
        </p:nvSpPr>
        <p:spPr>
          <a:xfrm>
            <a:off x="4392067" y="4388346"/>
            <a:ext cx="3407866" cy="958238"/>
          </a:xfrm>
          <a:prstGeom prst="roundRect">
            <a:avLst>
              <a:gd name="adj" fmla="val 7289"/>
            </a:avLst>
          </a:prstGeom>
          <a:solidFill>
            <a:srgbClr val="DCEBE8"/>
          </a:solidFill>
          <a:ln w="12700">
            <a:solidFill>
              <a:srgbClr val="0E736B"/>
            </a:solidFill>
            <a:prstDash val="solid"/>
          </a:ln>
        </p:spPr>
      </p:sp>
      <p:sp>
        <p:nvSpPr>
          <p:cNvPr id="24" name="Text 22"/>
          <p:cNvSpPr/>
          <p:nvPr/>
        </p:nvSpPr>
        <p:spPr>
          <a:xfrm>
            <a:off x="4574067" y="4506846"/>
            <a:ext cx="313518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36B"/>
                </a:solidFill>
                <a:latin typeface="IBM Plex Mono" pitchFamily="34" charset="0"/>
                <a:ea typeface="IBM Plex Mono" pitchFamily="34" charset="-122"/>
                <a:cs typeface="IBM Plex Mono" pitchFamily="34" charset="-120"/>
              </a:rPr>
              <a:t>PM2 · THIS PROJECT</a:t>
            </a:r>
            <a:endParaRPr lang="en-US" sz="1200" dirty="0"/>
          </a:p>
        </p:txBody>
      </p:sp>
      <p:sp>
        <p:nvSpPr>
          <p:cNvPr id="25" name="Text 23"/>
          <p:cNvSpPr/>
          <p:nvPr/>
        </p:nvSpPr>
        <p:spPr>
          <a:xfrm>
            <a:off x="4574067" y="4745549"/>
            <a:ext cx="313518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The Eyes</a:t>
            </a:r>
            <a:endParaRPr lang="en-US" sz="1600" dirty="0"/>
          </a:p>
        </p:txBody>
      </p:sp>
      <p:sp>
        <p:nvSpPr>
          <p:cNvPr id="26" name="Text 24"/>
          <p:cNvSpPr/>
          <p:nvPr/>
        </p:nvSpPr>
        <p:spPr>
          <a:xfrm>
            <a:off x="4574067" y="5014764"/>
            <a:ext cx="31351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RGB-D → fused poses → scene graph</a:t>
            </a:r>
            <a:endParaRPr lang="en-US" sz="1200" dirty="0"/>
          </a:p>
        </p:txBody>
      </p:sp>
      <p:sp>
        <p:nvSpPr>
          <p:cNvPr id="27" name="Shape 25"/>
          <p:cNvSpPr/>
          <p:nvPr/>
        </p:nvSpPr>
        <p:spPr>
          <a:xfrm>
            <a:off x="7965016" y="4388346"/>
            <a:ext cx="3407866" cy="958238"/>
          </a:xfrm>
          <a:prstGeom prst="roundRect">
            <a:avLst>
              <a:gd name="adj" fmla="val 7289"/>
            </a:avLst>
          </a:prstGeom>
          <a:solidFill>
            <a:srgbClr val="FBFAF6"/>
          </a:solidFill>
          <a:ln w="12700">
            <a:solidFill>
              <a:srgbClr val="D3D6D2"/>
            </a:solidFill>
            <a:prstDash val="solid"/>
          </a:ln>
        </p:spPr>
      </p:sp>
      <p:sp>
        <p:nvSpPr>
          <p:cNvPr id="28" name="Text 26"/>
          <p:cNvSpPr/>
          <p:nvPr/>
        </p:nvSpPr>
        <p:spPr>
          <a:xfrm>
            <a:off x="8147017" y="4506846"/>
            <a:ext cx="313518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36B"/>
                </a:solidFill>
                <a:latin typeface="IBM Plex Mono" pitchFamily="34" charset="0"/>
                <a:ea typeface="IBM Plex Mono" pitchFamily="34" charset="-122"/>
                <a:cs typeface="IBM Plex Mono" pitchFamily="34" charset="-120"/>
              </a:rPr>
              <a:t>CAPSTONE</a:t>
            </a:r>
            <a:endParaRPr lang="en-US" sz="1200" dirty="0"/>
          </a:p>
        </p:txBody>
      </p:sp>
      <p:sp>
        <p:nvSpPr>
          <p:cNvPr id="29" name="Text 27"/>
          <p:cNvSpPr/>
          <p:nvPr/>
        </p:nvSpPr>
        <p:spPr>
          <a:xfrm>
            <a:off x="8147017" y="4745549"/>
            <a:ext cx="313518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MANIP-WM</a:t>
            </a:r>
            <a:endParaRPr lang="en-US" sz="1600" dirty="0"/>
          </a:p>
        </p:txBody>
      </p:sp>
      <p:sp>
        <p:nvSpPr>
          <p:cNvPr id="30" name="Text 28"/>
          <p:cNvSpPr/>
          <p:nvPr/>
        </p:nvSpPr>
        <p:spPr>
          <a:xfrm>
            <a:off x="8147017" y="5014764"/>
            <a:ext cx="31351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world model over our object state</a:t>
            </a:r>
            <a:endParaRPr lang="en-US" sz="1200" dirty="0"/>
          </a:p>
        </p:txBody>
      </p:sp>
      <p:sp>
        <p:nvSpPr>
          <p:cNvPr id="31" name="Text 29"/>
          <p:cNvSpPr/>
          <p:nvPr/>
        </p:nvSpPr>
        <p:spPr>
          <a:xfrm>
            <a:off x="812767" y="6286582"/>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32" name="Text 30"/>
          <p:cNvSpPr/>
          <p:nvPr/>
        </p:nvSpPr>
        <p:spPr>
          <a:xfrm>
            <a:off x="10830553" y="6286582"/>
            <a:ext cx="599397"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3 / 18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02 · SCOPE</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Scope: what is in and what is out</a:t>
            </a:r>
            <a:endParaRPr lang="en-US" sz="3200" dirty="0"/>
          </a:p>
        </p:txBody>
      </p:sp>
      <p:sp>
        <p:nvSpPr>
          <p:cNvPr id="4" name="Shape 2"/>
          <p:cNvSpPr/>
          <p:nvPr/>
        </p:nvSpPr>
        <p:spPr>
          <a:xfrm>
            <a:off x="819117" y="1885801"/>
            <a:ext cx="5168916" cy="2238160"/>
          </a:xfrm>
          <a:prstGeom prst="roundRect">
            <a:avLst>
              <a:gd name="adj" fmla="val 4256"/>
            </a:avLst>
          </a:prstGeom>
          <a:solidFill>
            <a:srgbClr val="FBFAF6"/>
          </a:solidFill>
          <a:ln w="12700">
            <a:solidFill>
              <a:srgbClr val="D3D6D2"/>
            </a:solidFill>
            <a:prstDash val="solid"/>
          </a:ln>
        </p:spPr>
      </p:sp>
      <p:sp>
        <p:nvSpPr>
          <p:cNvPr id="5" name="Text 3"/>
          <p:cNvSpPr/>
          <p:nvPr/>
        </p:nvSpPr>
        <p:spPr>
          <a:xfrm>
            <a:off x="1026501" y="2067801"/>
            <a:ext cx="4896773" cy="330167"/>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736B"/>
                </a:solidFill>
                <a:latin typeface="Space Grotesk" pitchFamily="34" charset="0"/>
                <a:ea typeface="Space Grotesk" pitchFamily="34" charset="-122"/>
                <a:cs typeface="Space Grotesk" pitchFamily="34" charset="-120"/>
              </a:rPr>
              <a:t>In scope</a:t>
            </a:r>
            <a:endParaRPr lang="en-US" sz="2000" dirty="0"/>
          </a:p>
        </p:txBody>
      </p:sp>
      <p:sp>
        <p:nvSpPr>
          <p:cNvPr id="6" name="Text 4"/>
          <p:cNvSpPr/>
          <p:nvPr/>
        </p:nvSpPr>
        <p:spPr>
          <a:xfrm>
            <a:off x="1026501" y="2448719"/>
            <a:ext cx="4896773" cy="1518642"/>
          </a:xfrm>
          <a:prstGeom prst="rect">
            <a:avLst/>
          </a:prstGeom>
          <a:noFill/>
          <a:ln/>
        </p:spPr>
        <p:txBody>
          <a:bodyPr wrap="square" lIns="0" tIns="0" rIns="0" bIns="0" rtlCol="0" anchor="t">
            <a:normAutofit/>
          </a:bodyPr>
          <a:lstStyle/>
          <a:p>
            <a:pPr algn="l" marL="213360" indent="-175768">
              <a:lnSpc>
                <a:spcPts val="1960"/>
              </a:lnSpc>
              <a:buSzPct val="100000"/>
              <a:buChar char="•"/>
            </a:pPr>
            <a:r>
              <a:rPr lang="en-US" sz="1400" dirty="0">
                <a:solidFill>
                  <a:srgbClr val="3E4A54"/>
                </a:solidFill>
                <a:latin typeface="IBM Plex Sans" pitchFamily="34" charset="0"/>
                <a:ea typeface="IBM Plex Sans" pitchFamily="34" charset="-122"/>
                <a:cs typeface="IBM Plex Sans" pitchFamily="34" charset="-120"/>
              </a:rPr>
              <a:t>Up to 6 rigid, closed-set objects with CAD models; 3 classes today</a:t>
            </a:r>
            <a:endParaRPr lang="en-US" sz="1400" dirty="0"/>
          </a:p>
          <a:p>
            <a:pPr algn="l" marL="213360" indent="-175768">
              <a:lnSpc>
                <a:spcPts val="1960"/>
              </a:lnSpc>
              <a:buSzPct val="100000"/>
              <a:buChar char="•"/>
            </a:pPr>
            <a:r>
              <a:rPr lang="en-US" sz="1400" dirty="0">
                <a:solidFill>
                  <a:srgbClr val="3E4A54"/>
                </a:solidFill>
                <a:latin typeface="IBM Plex Sans" pitchFamily="34" charset="0"/>
                <a:ea typeface="IBM Plex Sans" pitchFamily="34" charset="-122"/>
                <a:cs typeface="IBM Plex Sans" pitchFamily="34" charset="-120"/>
              </a:rPr>
              <a:t>2 × Intel RealSense D435i, front and overhead, hardware-synced</a:t>
            </a:r>
            <a:endParaRPr lang="en-US" sz="1400" dirty="0"/>
          </a:p>
          <a:p>
            <a:pPr algn="l" marL="213360" indent="-175768">
              <a:lnSpc>
                <a:spcPts val="1960"/>
              </a:lnSpc>
              <a:buSzPct val="100000"/>
              <a:buChar char="•"/>
            </a:pPr>
            <a:r>
              <a:rPr lang="en-US" sz="1400" dirty="0">
                <a:solidFill>
                  <a:srgbClr val="3E4A54"/>
                </a:solidFill>
                <a:latin typeface="IBM Plex Sans" pitchFamily="34" charset="0"/>
                <a:ea typeface="IBM Plex Sans" pitchFamily="34" charset="-122"/>
                <a:cs typeface="IBM Plex Sans" pitchFamily="34" charset="-120"/>
              </a:rPr>
              <a:t>One workstation: RTX 5070 Ti, 16 GB</a:t>
            </a:r>
            <a:endParaRPr lang="en-US" sz="1400" dirty="0"/>
          </a:p>
          <a:p>
            <a:pPr algn="l" marL="213360" indent="-175768">
              <a:lnSpc>
                <a:spcPts val="1960"/>
              </a:lnSpc>
              <a:buSzPct val="100000"/>
              <a:buChar char="•"/>
            </a:pPr>
            <a:r>
              <a:rPr lang="en-US" sz="1400" dirty="0">
                <a:solidFill>
                  <a:srgbClr val="3E4A54"/>
                </a:solidFill>
                <a:latin typeface="IBM Plex Sans" pitchFamily="34" charset="0"/>
                <a:ea typeface="IBM Plex Sans" pitchFamily="34" charset="-122"/>
                <a:cs typeface="IBM Plex Sans" pitchFamily="34" charset="-120"/>
              </a:rPr>
              <a:t>Output: fused 6-DoF poses, a scene graph, PDDL facts</a:t>
            </a:r>
            <a:endParaRPr lang="en-US" sz="1400" dirty="0"/>
          </a:p>
        </p:txBody>
      </p:sp>
      <p:sp>
        <p:nvSpPr>
          <p:cNvPr id="7" name="Shape 5"/>
          <p:cNvSpPr/>
          <p:nvPr/>
        </p:nvSpPr>
        <p:spPr>
          <a:xfrm>
            <a:off x="6203884" y="1885801"/>
            <a:ext cx="5168999" cy="2238160"/>
          </a:xfrm>
          <a:prstGeom prst="roundRect">
            <a:avLst>
              <a:gd name="adj" fmla="val 4256"/>
            </a:avLst>
          </a:prstGeom>
          <a:solidFill>
            <a:srgbClr val="FBFAF6"/>
          </a:solidFill>
          <a:ln w="12700">
            <a:solidFill>
              <a:srgbClr val="D3D6D2"/>
            </a:solidFill>
            <a:prstDash val="solid"/>
          </a:ln>
        </p:spPr>
      </p:sp>
      <p:sp>
        <p:nvSpPr>
          <p:cNvPr id="8" name="Text 6"/>
          <p:cNvSpPr/>
          <p:nvPr/>
        </p:nvSpPr>
        <p:spPr>
          <a:xfrm>
            <a:off x="6411268" y="2067801"/>
            <a:ext cx="4896858" cy="330167"/>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5E6973"/>
                </a:solidFill>
                <a:latin typeface="Space Grotesk" pitchFamily="34" charset="0"/>
                <a:ea typeface="Space Grotesk" pitchFamily="34" charset="-122"/>
                <a:cs typeface="Space Grotesk" pitchFamily="34" charset="-120"/>
              </a:rPr>
              <a:t>Out of scope</a:t>
            </a:r>
            <a:endParaRPr lang="en-US" sz="2000" dirty="0"/>
          </a:p>
        </p:txBody>
      </p:sp>
      <p:sp>
        <p:nvSpPr>
          <p:cNvPr id="9" name="Text 7"/>
          <p:cNvSpPr/>
          <p:nvPr/>
        </p:nvSpPr>
        <p:spPr>
          <a:xfrm>
            <a:off x="6411268" y="2448719"/>
            <a:ext cx="4896858" cy="1518642"/>
          </a:xfrm>
          <a:prstGeom prst="rect">
            <a:avLst/>
          </a:prstGeom>
          <a:noFill/>
          <a:ln/>
        </p:spPr>
        <p:txBody>
          <a:bodyPr wrap="square" lIns="0" tIns="0" rIns="0" bIns="0" rtlCol="0" anchor="t">
            <a:normAutofit/>
          </a:bodyPr>
          <a:lstStyle/>
          <a:p>
            <a:pPr algn="l" marL="213360" indent="-175768">
              <a:lnSpc>
                <a:spcPts val="1960"/>
              </a:lnSpc>
              <a:buSzPct val="100000"/>
              <a:buChar char="•"/>
            </a:pPr>
            <a:r>
              <a:rPr lang="en-US" sz="1400" dirty="0">
                <a:solidFill>
                  <a:srgbClr val="3E4A54"/>
                </a:solidFill>
                <a:latin typeface="IBM Plex Sans" pitchFamily="34" charset="0"/>
                <a:ea typeface="IBM Plex Sans" pitchFamily="34" charset="-122"/>
                <a:cs typeface="IBM Plex Sans" pitchFamily="34" charset="-120"/>
              </a:rPr>
              <a:t>Open-vocabulary detection</a:t>
            </a:r>
            <a:endParaRPr lang="en-US" sz="1400" dirty="0"/>
          </a:p>
          <a:p>
            <a:pPr algn="l" marL="213360" indent="-175768">
              <a:lnSpc>
                <a:spcPts val="1960"/>
              </a:lnSpc>
              <a:buSzPct val="100000"/>
              <a:buChar char="•"/>
            </a:pPr>
            <a:r>
              <a:rPr lang="en-US" sz="1400" dirty="0">
                <a:solidFill>
                  <a:srgbClr val="3E4A54"/>
                </a:solidFill>
                <a:latin typeface="IBM Plex Sans" pitchFamily="34" charset="0"/>
                <a:ea typeface="IBM Plex Sans" pitchFamily="34" charset="-122"/>
                <a:cs typeface="IBM Plex Sans" pitchFamily="34" charset="-120"/>
              </a:rPr>
              <a:t>Articulated or deformable objects</a:t>
            </a:r>
            <a:endParaRPr lang="en-US" sz="1400" dirty="0"/>
          </a:p>
          <a:p>
            <a:pPr algn="l" marL="213360" indent="-175768">
              <a:lnSpc>
                <a:spcPts val="1960"/>
              </a:lnSpc>
              <a:buSzPct val="100000"/>
              <a:buChar char="•"/>
            </a:pPr>
            <a:r>
              <a:rPr lang="en-US" sz="1400" dirty="0">
                <a:solidFill>
                  <a:srgbClr val="3E4A54"/>
                </a:solidFill>
                <a:latin typeface="IBM Plex Sans" pitchFamily="34" charset="0"/>
                <a:ea typeface="IBM Plex Sans" pitchFamily="34" charset="-122"/>
                <a:cs typeface="IBM Plex Sans" pitchFamily="34" charset="-120"/>
              </a:rPr>
              <a:t>Robot arm manipulation: the SO-ARM101 is a stretch demo only</a:t>
            </a:r>
            <a:endParaRPr lang="en-US" sz="1400" dirty="0"/>
          </a:p>
          <a:p>
            <a:pPr algn="l" marL="213360" indent="-175768">
              <a:lnSpc>
                <a:spcPts val="1960"/>
              </a:lnSpc>
              <a:buSzPct val="100000"/>
              <a:buChar char="•"/>
            </a:pPr>
            <a:r>
              <a:rPr lang="en-US" sz="1400" dirty="0">
                <a:solidFill>
                  <a:srgbClr val="3E4A54"/>
                </a:solidFill>
                <a:latin typeface="IBM Plex Sans" pitchFamily="34" charset="0"/>
                <a:ea typeface="IBM Plex Sans" pitchFamily="34" charset="-122"/>
                <a:cs typeface="IBM Plex Sans" pitchFamily="34" charset="-120"/>
              </a:rPr>
              <a:t>Live integration demo with The Planner: cut 8 Sep, logged output instead</a:t>
            </a:r>
            <a:endParaRPr lang="en-US" sz="1400" dirty="0"/>
          </a:p>
        </p:txBody>
      </p:sp>
      <p:sp>
        <p:nvSpPr>
          <p:cNvPr id="10" name="Shape 8"/>
          <p:cNvSpPr/>
          <p:nvPr/>
        </p:nvSpPr>
        <p:spPr>
          <a:xfrm>
            <a:off x="812767" y="4384311"/>
            <a:ext cx="10566466" cy="1084378"/>
          </a:xfrm>
          <a:prstGeom prst="roundRect">
            <a:avLst>
              <a:gd name="adj" fmla="val 9369"/>
            </a:avLst>
          </a:prstGeom>
          <a:solidFill>
            <a:srgbClr val="14202B"/>
          </a:solidFill>
          <a:ln/>
        </p:spPr>
      </p:sp>
      <p:sp>
        <p:nvSpPr>
          <p:cNvPr id="11" name="Text 9"/>
          <p:cNvSpPr/>
          <p:nvPr/>
        </p:nvSpPr>
        <p:spPr>
          <a:xfrm>
            <a:off x="1041301" y="4562078"/>
            <a:ext cx="10412680" cy="52314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CCABD"/>
                </a:solidFill>
                <a:latin typeface="IBM Plex Sans" pitchFamily="34" charset="0"/>
                <a:ea typeface="IBM Plex Sans" pitchFamily="34" charset="-122"/>
                <a:cs typeface="IBM Plex Sans" pitchFamily="34" charset="-120"/>
              </a:rPr>
              <a:t>MVP:</a:t>
            </a:r>
            <a:r>
              <a:rPr lang="en-US" sz="1400" dirty="0">
                <a:solidFill>
                  <a:srgbClr val="F4F2EC"/>
                </a:solidFill>
                <a:latin typeface="IBM Plex Sans" pitchFamily="34" charset="0"/>
                <a:ea typeface="IBM Plex Sans" pitchFamily="34" charset="-122"/>
                <a:cs typeface="IBM Plex Sans" pitchFamily="34" charset="-120"/>
              </a:rPr>
              <a:t> real single-camera pipeline → second camera + fusion + </a:t>
            </a:r>
            <a:r>
              <a:rPr lang="en-US" sz="1400" b="1" dirty="0">
                <a:solidFill>
                  <a:srgbClr val="F4F2EC"/>
                </a:solidFill>
                <a:latin typeface="IBM Plex Sans" pitchFamily="34" charset="0"/>
                <a:ea typeface="IBM Plex Sans" pitchFamily="34" charset="-122"/>
                <a:cs typeface="IBM Plex Sans" pitchFamily="34" charset="-120"/>
              </a:rPr>
              <a:t>occlusion ablation, never cut</a:t>
            </a:r>
            <a:r>
              <a:rPr lang="en-US" sz="1400" dirty="0">
                <a:solidFill>
                  <a:srgbClr val="F4F2EC"/>
                </a:solidFill>
                <a:latin typeface="IBM Plex Sans" pitchFamily="34" charset="0"/>
                <a:ea typeface="IBM Plex Sans" pitchFamily="34" charset="-122"/>
                <a:cs typeface="IBM Plex Sans" pitchFamily="34" charset="-120"/>
              </a:rPr>
              <a:t> → scene graph → evaluation numbers.</a:t>
            </a:r>
            <a:endParaRPr lang="en-US" sz="1400" dirty="0"/>
          </a:p>
        </p:txBody>
      </p:sp>
      <p:sp>
        <p:nvSpPr>
          <p:cNvPr id="12" name="Text 10"/>
          <p:cNvSpPr/>
          <p:nvPr/>
        </p:nvSpPr>
        <p:spPr>
          <a:xfrm>
            <a:off x="1041301" y="5059824"/>
            <a:ext cx="10412680"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8D3D8"/>
                </a:solidFill>
                <a:latin typeface="IBM Plex Sans" pitchFamily="34" charset="0"/>
                <a:ea typeface="IBM Plex Sans" pitchFamily="34" charset="-122"/>
                <a:cs typeface="IBM Plex Sans" pitchFamily="34" charset="-120"/>
              </a:rPr>
              <a:t>Cut first under schedule pressure: Jetson test, then unknown-object DBSCAN, then the digital-twin viewport.</a:t>
            </a:r>
            <a:endParaRPr lang="en-US" sz="1300" dirty="0"/>
          </a:p>
        </p:txBody>
      </p:sp>
      <p:sp>
        <p:nvSpPr>
          <p:cNvPr id="13" name="Text 11"/>
          <p:cNvSpPr/>
          <p:nvPr/>
        </p:nvSpPr>
        <p:spPr>
          <a:xfrm>
            <a:off x="812767" y="6286581"/>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14" name="Text 12"/>
          <p:cNvSpPr/>
          <p:nvPr/>
        </p:nvSpPr>
        <p:spPr>
          <a:xfrm>
            <a:off x="10830553" y="6286581"/>
            <a:ext cx="599397"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4 / 18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4173"/>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0E736B"/>
                </a:solidFill>
                <a:latin typeface="IBM Plex Mono" pitchFamily="34" charset="0"/>
                <a:ea typeface="IBM Plex Mono" pitchFamily="34" charset="-122"/>
                <a:cs typeface="IBM Plex Mono" pitchFamily="34" charset="-120"/>
              </a:rPr>
              <a:t>03 · DATA</a:t>
            </a:r>
            <a:endParaRPr lang="en-US" sz="1196" dirty="0"/>
          </a:p>
        </p:txBody>
      </p:sp>
      <p:sp>
        <p:nvSpPr>
          <p:cNvPr id="3" name="Text 1"/>
          <p:cNvSpPr/>
          <p:nvPr/>
        </p:nvSpPr>
        <p:spPr>
          <a:xfrm>
            <a:off x="812767" y="1173922"/>
            <a:ext cx="10883460" cy="462707"/>
          </a:xfrm>
          <a:prstGeom prst="rect">
            <a:avLst/>
          </a:prstGeom>
          <a:noFill/>
          <a:ln/>
        </p:spPr>
        <p:txBody>
          <a:bodyPr wrap="square" lIns="0" tIns="0" rIns="0" bIns="0" rtlCol="0" anchor="t">
            <a:normAutofit/>
          </a:bodyPr>
          <a:lstStyle/>
          <a:p>
            <a:pPr algn="l" indent="0" marL="0">
              <a:lnSpc>
                <a:spcPts val="3465"/>
              </a:lnSpc>
              <a:buNone/>
            </a:pPr>
            <a:r>
              <a:rPr lang="en-US" sz="3150" b="1" dirty="0">
                <a:solidFill>
                  <a:srgbClr val="16222C"/>
                </a:solidFill>
                <a:latin typeface="Space Grotesk" pitchFamily="34" charset="0"/>
                <a:ea typeface="Space Grotesk" pitchFamily="34" charset="-122"/>
                <a:cs typeface="Space Grotesk" pitchFamily="34" charset="-120"/>
              </a:rPr>
              <a:t>The rig</a:t>
            </a:r>
            <a:endParaRPr lang="en-US" sz="3150" dirty="0"/>
          </a:p>
        </p:txBody>
      </p:sp>
      <p:pic>
        <p:nvPicPr>
          <p:cNvPr id="4" name="Image 0" descr="Phone photo of the whole rig: two RealSense D435i cameras on tripods with boom arms, aimed at a desk where the printed blue bowl, red cube and yellow bottle sit in grey marker trays">    </p:cNvPr>
          <p:cNvPicPr>
            <a:picLocks noChangeAspect="1"/>
          </p:cNvPicPr>
          <p:nvPr/>
        </p:nvPicPr>
        <p:blipFill>
          <a:blip r:embed="rId1"/>
          <a:srcRect l="0" r="0" t="12938" b="12938"/>
          <a:stretch/>
        </p:blipFill>
        <p:spPr>
          <a:xfrm>
            <a:off x="812767" y="1821656"/>
            <a:ext cx="7493000" cy="4064000"/>
          </a:xfrm>
          <a:prstGeom prst="roundRect">
            <a:avLst>
              <a:gd name="adj" fmla="val 1875"/>
            </a:avLst>
          </a:prstGeom>
        </p:spPr>
      </p:pic>
      <p:sp>
        <p:nvSpPr>
          <p:cNvPr id="5" name="Shape 2"/>
          <p:cNvSpPr/>
          <p:nvPr/>
        </p:nvSpPr>
        <p:spPr>
          <a:xfrm>
            <a:off x="8629583" y="2954567"/>
            <a:ext cx="0" cy="325107"/>
          </a:xfrm>
          <a:prstGeom prst="line">
            <a:avLst/>
          </a:prstGeom>
          <a:noFill/>
          <a:ln w="38100">
            <a:solidFill>
              <a:srgbClr val="0E736B"/>
            </a:solidFill>
            <a:prstDash val="solid"/>
          </a:ln>
        </p:spPr>
      </p:sp>
      <p:sp>
        <p:nvSpPr>
          <p:cNvPr id="6" name="Text 3"/>
          <p:cNvSpPr/>
          <p:nvPr/>
        </p:nvSpPr>
        <p:spPr>
          <a:xfrm>
            <a:off x="8799959" y="2979951"/>
            <a:ext cx="2656652"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2C"/>
                </a:solidFill>
                <a:latin typeface="Space Grotesk" pitchFamily="34" charset="0"/>
                <a:ea typeface="Space Grotesk" pitchFamily="34" charset="-122"/>
                <a:cs typeface="Space Grotesk" pitchFamily="34" charset="-120"/>
              </a:rPr>
              <a:t>2 × D435i on tripods</a:t>
            </a:r>
            <a:endParaRPr lang="en-US" sz="1800" dirty="0"/>
          </a:p>
        </p:txBody>
      </p:sp>
      <p:sp>
        <p:nvSpPr>
          <p:cNvPr id="7" name="Shape 4"/>
          <p:cNvSpPr/>
          <p:nvPr/>
        </p:nvSpPr>
        <p:spPr>
          <a:xfrm>
            <a:off x="8629583" y="3482826"/>
            <a:ext cx="0" cy="325107"/>
          </a:xfrm>
          <a:prstGeom prst="line">
            <a:avLst/>
          </a:prstGeom>
          <a:noFill/>
          <a:ln w="38100">
            <a:solidFill>
              <a:srgbClr val="0E736B"/>
            </a:solidFill>
            <a:prstDash val="solid"/>
          </a:ln>
        </p:spPr>
      </p:sp>
      <p:sp>
        <p:nvSpPr>
          <p:cNvPr id="8" name="Text 5"/>
          <p:cNvSpPr/>
          <p:nvPr/>
        </p:nvSpPr>
        <p:spPr>
          <a:xfrm>
            <a:off x="8799959" y="3508208"/>
            <a:ext cx="2656652"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2C"/>
                </a:solidFill>
                <a:latin typeface="Space Grotesk" pitchFamily="34" charset="0"/>
                <a:ea typeface="Space Grotesk" pitchFamily="34" charset="-122"/>
                <a:cs typeface="Space Grotesk" pitchFamily="34" charset="-120"/>
              </a:rPr>
              <a:t>Hardware-synced</a:t>
            </a:r>
            <a:endParaRPr lang="en-US" sz="1800" dirty="0"/>
          </a:p>
        </p:txBody>
      </p:sp>
      <p:sp>
        <p:nvSpPr>
          <p:cNvPr id="9" name="Shape 6"/>
          <p:cNvSpPr/>
          <p:nvPr/>
        </p:nvSpPr>
        <p:spPr>
          <a:xfrm>
            <a:off x="8629583" y="4011082"/>
            <a:ext cx="0" cy="325107"/>
          </a:xfrm>
          <a:prstGeom prst="line">
            <a:avLst/>
          </a:prstGeom>
          <a:noFill/>
          <a:ln w="38100">
            <a:solidFill>
              <a:srgbClr val="0E736B"/>
            </a:solidFill>
            <a:prstDash val="solid"/>
          </a:ln>
        </p:spPr>
      </p:sp>
      <p:sp>
        <p:nvSpPr>
          <p:cNvPr id="10" name="Text 7"/>
          <p:cNvSpPr/>
          <p:nvPr/>
        </p:nvSpPr>
        <p:spPr>
          <a:xfrm>
            <a:off x="8799959" y="4036467"/>
            <a:ext cx="2656652"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2C"/>
                </a:solidFill>
                <a:latin typeface="Space Grotesk" pitchFamily="34" charset="0"/>
                <a:ea typeface="Space Grotesk" pitchFamily="34" charset="-122"/>
                <a:cs typeface="Space Grotesk" pitchFamily="34" charset="-120"/>
              </a:rPr>
              <a:t>Objects in marker trays</a:t>
            </a:r>
            <a:endParaRPr lang="en-US" sz="1800" dirty="0"/>
          </a:p>
        </p:txBody>
      </p:sp>
      <p:sp>
        <p:nvSpPr>
          <p:cNvPr id="11" name="Text 8"/>
          <p:cNvSpPr/>
          <p:nvPr/>
        </p:nvSpPr>
        <p:spPr>
          <a:xfrm>
            <a:off x="8610533" y="4539338"/>
            <a:ext cx="2851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Phone photo, 29 Sep</a:t>
            </a:r>
            <a:endParaRPr lang="en-US" sz="1200" dirty="0"/>
          </a:p>
        </p:txBody>
      </p:sp>
      <p:sp>
        <p:nvSpPr>
          <p:cNvPr id="12" name="Text 9"/>
          <p:cNvSpPr/>
          <p:nvPr/>
        </p:nvSpPr>
        <p:spPr>
          <a:xfrm>
            <a:off x="812767" y="6286581"/>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13" name="Text 10"/>
          <p:cNvSpPr/>
          <p:nvPr/>
        </p:nvSpPr>
        <p:spPr>
          <a:xfrm>
            <a:off x="10830553" y="6286581"/>
            <a:ext cx="599397"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5 / 18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03 · DATA</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Data: synthetic for training, real for evaluation</a:t>
            </a:r>
            <a:endParaRPr lang="en-US" sz="3200" dirty="0"/>
          </a:p>
        </p:txBody>
      </p:sp>
      <p:sp>
        <p:nvSpPr>
          <p:cNvPr id="4" name="Shape 2"/>
          <p:cNvSpPr/>
          <p:nvPr/>
        </p:nvSpPr>
        <p:spPr>
          <a:xfrm>
            <a:off x="819117" y="1885801"/>
            <a:ext cx="3373967" cy="3170238"/>
          </a:xfrm>
          <a:prstGeom prst="roundRect">
            <a:avLst>
              <a:gd name="adj" fmla="val 3005"/>
            </a:avLst>
          </a:prstGeom>
          <a:solidFill>
            <a:srgbClr val="FBFAF6"/>
          </a:solidFill>
          <a:ln w="12700">
            <a:solidFill>
              <a:srgbClr val="D3D6D2"/>
            </a:solidFill>
            <a:prstDash val="solid"/>
          </a:ln>
        </p:spPr>
      </p:sp>
      <p:sp>
        <p:nvSpPr>
          <p:cNvPr id="5" name="Text 3"/>
          <p:cNvSpPr/>
          <p:nvPr/>
        </p:nvSpPr>
        <p:spPr>
          <a:xfrm>
            <a:off x="1026501" y="2067799"/>
            <a:ext cx="3047975"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36B"/>
                </a:solidFill>
                <a:latin typeface="IBM Plex Mono" pitchFamily="34" charset="0"/>
                <a:ea typeface="IBM Plex Mono" pitchFamily="34" charset="-122"/>
                <a:cs typeface="IBM Plex Mono" pitchFamily="34" charset="-120"/>
              </a:rPr>
              <a:t>TRAINING · SYNTHETIC</a:t>
            </a:r>
            <a:endParaRPr lang="en-US" sz="1200" dirty="0"/>
          </a:p>
        </p:txBody>
      </p:sp>
      <p:sp>
        <p:nvSpPr>
          <p:cNvPr id="6" name="Text 4"/>
          <p:cNvSpPr/>
          <p:nvPr/>
        </p:nvSpPr>
        <p:spPr>
          <a:xfrm>
            <a:off x="1026501" y="2357270"/>
            <a:ext cx="3047975" cy="528356"/>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E736B"/>
                </a:solidFill>
                <a:latin typeface="Space Grotesk" pitchFamily="34" charset="0"/>
                <a:ea typeface="Space Grotesk" pitchFamily="34" charset="-122"/>
                <a:cs typeface="Space Grotesk" pitchFamily="34" charset="-120"/>
              </a:rPr>
              <a:t>50,000</a:t>
            </a:r>
            <a:endParaRPr lang="en-US" sz="3600" dirty="0"/>
          </a:p>
        </p:txBody>
      </p:sp>
      <p:sp>
        <p:nvSpPr>
          <p:cNvPr id="7" name="Text 5"/>
          <p:cNvSpPr/>
          <p:nvPr/>
        </p:nvSpPr>
        <p:spPr>
          <a:xfrm>
            <a:off x="1026501" y="2936379"/>
            <a:ext cx="304797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RGB-D frames, synth50k_v2</a:t>
            </a:r>
            <a:endParaRPr lang="en-US" sz="1600" dirty="0"/>
          </a:p>
        </p:txBody>
      </p:sp>
      <p:sp>
        <p:nvSpPr>
          <p:cNvPr id="8" name="Text 6"/>
          <p:cNvSpPr/>
          <p:nvPr/>
        </p:nvSpPr>
        <p:spPr>
          <a:xfrm>
            <a:off x="1026501" y="3256359"/>
            <a:ext cx="3047975" cy="16430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Isaac Sim Replicator with domain randomisation: lighting, materials, pose, viewpoint, distractors, occlusion. Depth passed through the measured D435i noise model. 40,012 train / 9,988 val; labels generated automatically.</a:t>
            </a:r>
            <a:endParaRPr lang="en-US" sz="1300" dirty="0"/>
          </a:p>
        </p:txBody>
      </p:sp>
      <p:sp>
        <p:nvSpPr>
          <p:cNvPr id="9" name="Shape 7"/>
          <p:cNvSpPr/>
          <p:nvPr/>
        </p:nvSpPr>
        <p:spPr>
          <a:xfrm>
            <a:off x="4408934" y="1885801"/>
            <a:ext cx="3374049" cy="3170238"/>
          </a:xfrm>
          <a:prstGeom prst="roundRect">
            <a:avLst>
              <a:gd name="adj" fmla="val 3005"/>
            </a:avLst>
          </a:prstGeom>
          <a:solidFill>
            <a:srgbClr val="FBFAF6"/>
          </a:solidFill>
          <a:ln w="12700">
            <a:solidFill>
              <a:srgbClr val="D3D6D2"/>
            </a:solidFill>
            <a:prstDash val="solid"/>
          </a:ln>
        </p:spPr>
      </p:sp>
      <p:sp>
        <p:nvSpPr>
          <p:cNvPr id="10" name="Text 8"/>
          <p:cNvSpPr/>
          <p:nvPr/>
        </p:nvSpPr>
        <p:spPr>
          <a:xfrm>
            <a:off x="4616317" y="2067799"/>
            <a:ext cx="30480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36B"/>
                </a:solidFill>
                <a:latin typeface="IBM Plex Mono" pitchFamily="34" charset="0"/>
                <a:ea typeface="IBM Plex Mono" pitchFamily="34" charset="-122"/>
                <a:cs typeface="IBM Plex Mono" pitchFamily="34" charset="-120"/>
              </a:rPr>
              <a:t>OBJECTS · CAD</a:t>
            </a:r>
            <a:endParaRPr lang="en-US" sz="1200" dirty="0"/>
          </a:p>
        </p:txBody>
      </p:sp>
      <p:sp>
        <p:nvSpPr>
          <p:cNvPr id="11" name="Text 9"/>
          <p:cNvSpPr/>
          <p:nvPr/>
        </p:nvSpPr>
        <p:spPr>
          <a:xfrm>
            <a:off x="4616317" y="2357270"/>
            <a:ext cx="3048060" cy="528356"/>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E736B"/>
                </a:solidFill>
                <a:latin typeface="Space Grotesk" pitchFamily="34" charset="0"/>
                <a:ea typeface="Space Grotesk" pitchFamily="34" charset="-122"/>
                <a:cs typeface="Space Grotesk" pitchFamily="34" charset="-120"/>
              </a:rPr>
              <a:t>3</a:t>
            </a:r>
            <a:endParaRPr lang="en-US" sz="3600" dirty="0"/>
          </a:p>
        </p:txBody>
      </p:sp>
      <p:sp>
        <p:nvSpPr>
          <p:cNvPr id="12" name="Text 10"/>
          <p:cNvSpPr/>
          <p:nvPr/>
        </p:nvSpPr>
        <p:spPr>
          <a:xfrm>
            <a:off x="4616317" y="2936379"/>
            <a:ext cx="30480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classes, all 3D printed</a:t>
            </a:r>
            <a:endParaRPr lang="en-US" sz="1600" dirty="0"/>
          </a:p>
        </p:txBody>
      </p:sp>
      <p:sp>
        <p:nvSpPr>
          <p:cNvPr id="13" name="Text 11"/>
          <p:cNvSpPr/>
          <p:nvPr/>
        </p:nvSpPr>
        <p:spPr>
          <a:xfrm>
            <a:off x="4616317" y="3256359"/>
            <a:ext cx="3048060" cy="118088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Mustard bottle (YCB 006), bowl (YCB 024), 50 mm cube. Printed from the meshes the data was rendered from, in the rendered colours, so no object–mesh mismatch hides inside ADD-S.</a:t>
            </a:r>
            <a:endParaRPr lang="en-US" sz="1300" dirty="0"/>
          </a:p>
        </p:txBody>
      </p:sp>
      <p:sp>
        <p:nvSpPr>
          <p:cNvPr id="14" name="Shape 12"/>
          <p:cNvSpPr/>
          <p:nvPr/>
        </p:nvSpPr>
        <p:spPr>
          <a:xfrm>
            <a:off x="7998833" y="1885801"/>
            <a:ext cx="3374049" cy="3170238"/>
          </a:xfrm>
          <a:prstGeom prst="roundRect">
            <a:avLst>
              <a:gd name="adj" fmla="val 3005"/>
            </a:avLst>
          </a:prstGeom>
          <a:solidFill>
            <a:srgbClr val="FBFAF6"/>
          </a:solidFill>
          <a:ln w="12700">
            <a:solidFill>
              <a:srgbClr val="D3D6D2"/>
            </a:solidFill>
            <a:prstDash val="solid"/>
          </a:ln>
        </p:spPr>
      </p:sp>
      <p:sp>
        <p:nvSpPr>
          <p:cNvPr id="15" name="Text 13"/>
          <p:cNvSpPr/>
          <p:nvPr/>
        </p:nvSpPr>
        <p:spPr>
          <a:xfrm>
            <a:off x="8206217" y="2067799"/>
            <a:ext cx="30480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36B"/>
                </a:solidFill>
                <a:latin typeface="IBM Plex Mono" pitchFamily="34" charset="0"/>
                <a:ea typeface="IBM Plex Mono" pitchFamily="34" charset="-122"/>
                <a:cs typeface="IBM Plex Mono" pitchFamily="34" charset="-120"/>
              </a:rPr>
              <a:t>EVALUATION · REAL</a:t>
            </a:r>
            <a:endParaRPr lang="en-US" sz="1200" dirty="0"/>
          </a:p>
        </p:txBody>
      </p:sp>
      <p:sp>
        <p:nvSpPr>
          <p:cNvPr id="16" name="Text 14"/>
          <p:cNvSpPr/>
          <p:nvPr/>
        </p:nvSpPr>
        <p:spPr>
          <a:xfrm>
            <a:off x="8206217" y="2357270"/>
            <a:ext cx="3048060" cy="528356"/>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E736B"/>
                </a:solidFill>
                <a:latin typeface="Space Grotesk" pitchFamily="34" charset="0"/>
                <a:ea typeface="Space Grotesk" pitchFamily="34" charset="-122"/>
                <a:cs typeface="Space Grotesk" pitchFamily="34" charset="-120"/>
              </a:rPr>
              <a:t>10 × 300</a:t>
            </a:r>
            <a:endParaRPr lang="en-US" sz="3600" dirty="0"/>
          </a:p>
        </p:txBody>
      </p:sp>
      <p:sp>
        <p:nvSpPr>
          <p:cNvPr id="17" name="Text 15"/>
          <p:cNvSpPr/>
          <p:nvPr/>
        </p:nvSpPr>
        <p:spPr>
          <a:xfrm>
            <a:off x="8206217" y="2936379"/>
            <a:ext cx="30480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2C"/>
                </a:solidFill>
                <a:latin typeface="Space Grotesk" pitchFamily="34" charset="0"/>
                <a:ea typeface="Space Grotesk" pitchFamily="34" charset="-122"/>
                <a:cs typeface="Space Grotesk" pitchFamily="34" charset="-120"/>
              </a:rPr>
              <a:t>scenes × synchronised pairs</a:t>
            </a:r>
            <a:endParaRPr lang="en-US" sz="1600" dirty="0"/>
          </a:p>
        </p:txBody>
      </p:sp>
      <p:sp>
        <p:nvSpPr>
          <p:cNvPr id="18" name="Text 16"/>
          <p:cNvSpPr/>
          <p:nvPr/>
        </p:nvSpPr>
        <p:spPr>
          <a:xfrm>
            <a:off x="8206217" y="3256359"/>
            <a:ext cx="3048060" cy="118088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Four tiers, from isolated objects to targets under 25% visible from one view. Recorded once, replayed bit-exact for every ablation arm. Ground truth from marker trays. </a:t>
            </a:r>
            <a:r>
              <a:rPr lang="en-US" sz="1300" b="1" dirty="0">
                <a:solidFill>
                  <a:srgbClr val="3E4A54"/>
                </a:solidFill>
                <a:latin typeface="IBM Plex Sans" pitchFamily="34" charset="0"/>
                <a:ea typeface="IBM Plex Sans" pitchFamily="34" charset="-122"/>
                <a:cs typeface="IBM Plex Sans" pitchFamily="34" charset="-120"/>
              </a:rPr>
              <a:t>Not captured yet.</a:t>
            </a:r>
            <a:endParaRPr lang="en-US" sz="1300" dirty="0"/>
          </a:p>
        </p:txBody>
      </p:sp>
      <p:sp>
        <p:nvSpPr>
          <p:cNvPr id="19" name="Text 17"/>
          <p:cNvSpPr/>
          <p:nvPr/>
        </p:nvSpPr>
        <p:spPr>
          <a:xfrm>
            <a:off x="812767" y="6286581"/>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20" name="Text 18"/>
          <p:cNvSpPr/>
          <p:nvPr/>
        </p:nvSpPr>
        <p:spPr>
          <a:xfrm>
            <a:off x="10830553" y="6286581"/>
            <a:ext cx="599397"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6 / 18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03 · DATA</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Ground truth from printed marker trays</a:t>
            </a:r>
            <a:endParaRPr lang="en-US" sz="3200" dirty="0"/>
          </a:p>
        </p:txBody>
      </p:sp>
      <p:pic>
        <p:nvPicPr>
          <p:cNvPr id="4" name="Image 0" descr="Front camera view of three grey trays with ArUco markers on a desk">    </p:cNvPr>
          <p:cNvPicPr>
            <a:picLocks noChangeAspect="1"/>
          </p:cNvPicPr>
          <p:nvPr/>
        </p:nvPicPr>
        <p:blipFill>
          <a:blip r:embed="rId1"/>
          <a:srcRect l="0" r="0" t="0" b="0"/>
          <a:stretch/>
        </p:blipFill>
        <p:spPr>
          <a:xfrm>
            <a:off x="812767" y="1879451"/>
            <a:ext cx="4572000" cy="2571750"/>
          </a:xfrm>
          <a:prstGeom prst="roundRect">
            <a:avLst>
              <a:gd name="adj" fmla="val 2963"/>
            </a:avLst>
          </a:prstGeom>
        </p:spPr>
      </p:pic>
      <p:sp>
        <p:nvSpPr>
          <p:cNvPr id="5" name="Text 2"/>
          <p:cNvSpPr/>
          <p:nvPr/>
        </p:nvSpPr>
        <p:spPr>
          <a:xfrm>
            <a:off x="812767" y="4501967"/>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cam_front, 1920 × 1080 still, 20 Sep</a:t>
            </a:r>
            <a:endParaRPr lang="en-US" sz="1200" dirty="0"/>
          </a:p>
        </p:txBody>
      </p:sp>
      <p:pic>
        <p:nvPicPr>
          <p:cNvPr id="6" name="Image 1" descr="Phone photo of the desk: printed bowl, cube and bottle seated in grey ArUco marker trays beside the ChArUco calibration board, with both cameras at the edges">    </p:cNvPr>
          <p:cNvPicPr>
            <a:picLocks noChangeAspect="1"/>
          </p:cNvPicPr>
          <p:nvPr/>
        </p:nvPicPr>
        <p:blipFill>
          <a:blip r:embed="rId2"/>
          <a:srcRect l="0" r="0" t="0" b="0"/>
          <a:stretch/>
        </p:blipFill>
        <p:spPr>
          <a:xfrm>
            <a:off x="5587917" y="1879451"/>
            <a:ext cx="4572000" cy="2571750"/>
          </a:xfrm>
          <a:prstGeom prst="roundRect">
            <a:avLst>
              <a:gd name="adj" fmla="val 2963"/>
            </a:avLst>
          </a:prstGeom>
        </p:spPr>
      </p:pic>
      <p:sp>
        <p:nvSpPr>
          <p:cNvPr id="7" name="Text 3"/>
          <p:cNvSpPr/>
          <p:nvPr/>
        </p:nvSpPr>
        <p:spPr>
          <a:xfrm>
            <a:off x="5587917" y="4501967"/>
            <a:ext cx="5682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Phone photo, 29 Sep: objects in their trays, beside the ChArUco calibration board</a:t>
            </a:r>
            <a:endParaRPr lang="en-US" sz="1200" dirty="0"/>
          </a:p>
        </p:txBody>
      </p:sp>
      <p:sp>
        <p:nvSpPr>
          <p:cNvPr id="8" name="Text 4"/>
          <p:cNvSpPr/>
          <p:nvPr/>
        </p:nvSpPr>
        <p:spPr>
          <a:xfrm>
            <a:off x="812767" y="4969287"/>
            <a:ext cx="10883460" cy="27427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22C"/>
                </a:solidFill>
                <a:latin typeface="IBM Plex Mono" pitchFamily="34" charset="0"/>
                <a:ea typeface="IBM Plex Mono" pitchFamily="34" charset="-122"/>
                <a:cs typeface="IBM Plex Mono" pitchFamily="34" charset="-120"/>
              </a:rPr>
              <a:t>T_cam_object = T_cam_marker · T_marker_tray · T_tray_object</a:t>
            </a:r>
            <a:endParaRPr lang="en-US" sz="1400" dirty="0"/>
          </a:p>
        </p:txBody>
      </p:sp>
      <p:sp>
        <p:nvSpPr>
          <p:cNvPr id="9" name="Text 5"/>
          <p:cNvSpPr/>
          <p:nvPr/>
        </p:nvSpPr>
        <p:spPr>
          <a:xfrm>
            <a:off x="812767" y="5281662"/>
            <a:ext cx="10883460"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Socket cut from the object's own mesh · worst clearance </a:t>
            </a:r>
            <a:r>
              <a:rPr lang="en-US" sz="1300" b="1" dirty="0">
                <a:solidFill>
                  <a:srgbClr val="3E4A54"/>
                </a:solidFill>
                <a:latin typeface="IBM Plex Sans" pitchFamily="34" charset="0"/>
                <a:ea typeface="IBM Plex Sans" pitchFamily="34" charset="-122"/>
                <a:cs typeface="IBM Plex Sans" pitchFamily="34" charset="-120"/>
              </a:rPr>
              <a:t>0.23 mm</a:t>
            </a:r>
            <a:r>
              <a:rPr lang="en-US" sz="1300" dirty="0">
                <a:solidFill>
                  <a:srgbClr val="3E4A54"/>
                </a:solidFill>
                <a:latin typeface="IBM Plex Sans" pitchFamily="34" charset="0"/>
                <a:ea typeface="IBM Plex Sans" pitchFamily="34" charset="-122"/>
                <a:cs typeface="IBM Plex Sans" pitchFamily="34" charset="-120"/>
              </a:rPr>
              <a:t> · markers callipered at </a:t>
            </a:r>
            <a:r>
              <a:rPr lang="en-US" sz="1300" b="1" dirty="0">
                <a:solidFill>
                  <a:srgbClr val="3E4A54"/>
                </a:solidFill>
                <a:latin typeface="IBM Plex Sans" pitchFamily="34" charset="0"/>
                <a:ea typeface="IBM Plex Sans" pitchFamily="34" charset="-122"/>
                <a:cs typeface="IBM Plex Sans" pitchFamily="34" charset="-120"/>
              </a:rPr>
              <a:t>40.0 mm</a:t>
            </a:r>
            <a:r>
              <a:rPr lang="en-US" sz="1300" dirty="0">
                <a:solidFill>
                  <a:srgbClr val="3E4A54"/>
                </a:solidFill>
                <a:latin typeface="IBM Plex Sans" pitchFamily="34" charset="0"/>
                <a:ea typeface="IBM Plex Sans" pitchFamily="34" charset="-122"/>
                <a:cs typeface="IBM Plex Sans" pitchFamily="34" charset="-120"/>
              </a:rPr>
              <a:t> · evaluation only, never used at inference</a:t>
            </a:r>
            <a:endParaRPr lang="en-US" sz="1300" dirty="0"/>
          </a:p>
        </p:txBody>
      </p:sp>
      <p:sp>
        <p:nvSpPr>
          <p:cNvPr id="10" name="Text 6"/>
          <p:cNvSpPr/>
          <p:nvPr/>
        </p:nvSpPr>
        <p:spPr>
          <a:xfrm>
            <a:off x="812767" y="6286581"/>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11" name="Text 7"/>
          <p:cNvSpPr/>
          <p:nvPr/>
        </p:nvSpPr>
        <p:spPr>
          <a:xfrm>
            <a:off x="10830553" y="6286581"/>
            <a:ext cx="599397"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7 / 18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04 · TECHNICAL APPROACH</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System design: one C++ process, two views</a:t>
            </a:r>
            <a:endParaRPr lang="en-US" sz="3200" dirty="0"/>
          </a:p>
        </p:txBody>
      </p:sp>
      <p:sp>
        <p:nvSpPr>
          <p:cNvPr id="4" name="Text 2"/>
          <p:cNvSpPr/>
          <p:nvPr/>
        </p:nvSpPr>
        <p:spPr>
          <a:xfrm>
            <a:off x="812767" y="1803381"/>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36B"/>
                </a:solidFill>
                <a:latin typeface="IBM Plex Mono" pitchFamily="34" charset="0"/>
                <a:ea typeface="IBM Plex Mono" pitchFamily="34" charset="-122"/>
                <a:cs typeface="IBM Plex Mono" pitchFamily="34" charset="-120"/>
              </a:rPr>
              <a:t>PER VIEW · runs for each camera, learned models</a:t>
            </a:r>
            <a:endParaRPr lang="en-US" sz="1200" dirty="0"/>
          </a:p>
        </p:txBody>
      </p:sp>
      <p:sp>
        <p:nvSpPr>
          <p:cNvPr id="5" name="Shape 3"/>
          <p:cNvSpPr/>
          <p:nvPr/>
        </p:nvSpPr>
        <p:spPr>
          <a:xfrm>
            <a:off x="819117" y="2076382"/>
            <a:ext cx="2285950" cy="1193800"/>
          </a:xfrm>
          <a:prstGeom prst="roundRect">
            <a:avLst>
              <a:gd name="adj" fmla="val 6915"/>
            </a:avLst>
          </a:prstGeom>
          <a:solidFill>
            <a:srgbClr val="FBFAF6"/>
          </a:solidFill>
          <a:ln w="12700">
            <a:solidFill>
              <a:srgbClr val="D3D6D2"/>
            </a:solidFill>
            <a:prstDash val="solid"/>
          </a:ln>
          <a:effectLst>
            <a:outerShdw sx="100000" sy="100000" kx="0" ky="0" algn="bl" rotWithShape="0" blurRad="0" dist="89803" dir="2700000">
              <a:srgbClr val="D3D6D2">
                <a:alpha val="100000"/>
              </a:srgbClr>
            </a:outerShdw>
          </a:effectLst>
        </p:spPr>
      </p:sp>
      <p:sp>
        <p:nvSpPr>
          <p:cNvPr id="6" name="Text 4"/>
          <p:cNvSpPr/>
          <p:nvPr/>
        </p:nvSpPr>
        <p:spPr>
          <a:xfrm>
            <a:off x="963001" y="2220268"/>
            <a:ext cx="2058128" cy="25393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22C"/>
                </a:solidFill>
                <a:latin typeface="Space Grotesk" pitchFamily="34" charset="0"/>
                <a:ea typeface="Space Grotesk" pitchFamily="34" charset="-122"/>
                <a:cs typeface="Space Grotesk" pitchFamily="34" charset="-120"/>
              </a:rPr>
              <a:t>2 × D435i</a:t>
            </a:r>
            <a:endParaRPr lang="en-US" sz="1500" dirty="0"/>
          </a:p>
        </p:txBody>
      </p:sp>
      <p:sp>
        <p:nvSpPr>
          <p:cNvPr id="7" name="Text 5"/>
          <p:cNvSpPr/>
          <p:nvPr/>
        </p:nvSpPr>
        <p:spPr>
          <a:xfrm>
            <a:off x="963001" y="2486834"/>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RGB-D, 30 fps each</a:t>
            </a:r>
            <a:endParaRPr lang="en-US" sz="1200" dirty="0"/>
          </a:p>
        </p:txBody>
      </p:sp>
      <p:sp>
        <p:nvSpPr>
          <p:cNvPr id="8" name="Text 6"/>
          <p:cNvSpPr/>
          <p:nvPr/>
        </p:nvSpPr>
        <p:spPr>
          <a:xfrm>
            <a:off x="963001" y="2738189"/>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chosen by serial, synced</a:t>
            </a:r>
            <a:endParaRPr lang="en-US" sz="1200" dirty="0"/>
          </a:p>
        </p:txBody>
      </p:sp>
      <p:sp>
        <p:nvSpPr>
          <p:cNvPr id="9" name="Shape 7"/>
          <p:cNvSpPr/>
          <p:nvPr/>
        </p:nvSpPr>
        <p:spPr>
          <a:xfrm>
            <a:off x="3575000" y="2076382"/>
            <a:ext cx="2285950" cy="1193800"/>
          </a:xfrm>
          <a:prstGeom prst="roundRect">
            <a:avLst>
              <a:gd name="adj" fmla="val 6915"/>
            </a:avLst>
          </a:prstGeom>
          <a:solidFill>
            <a:srgbClr val="FBFAF6"/>
          </a:solidFill>
          <a:ln w="12700">
            <a:solidFill>
              <a:srgbClr val="D3D6D2"/>
            </a:solidFill>
            <a:prstDash val="solid"/>
          </a:ln>
          <a:effectLst>
            <a:outerShdw sx="100000" sy="100000" kx="0" ky="0" algn="bl" rotWithShape="0" blurRad="0" dist="89803" dir="2700000">
              <a:srgbClr val="D3D6D2">
                <a:alpha val="100000"/>
              </a:srgbClr>
            </a:outerShdw>
          </a:effectLst>
        </p:spPr>
      </p:sp>
      <p:sp>
        <p:nvSpPr>
          <p:cNvPr id="10" name="Text 8"/>
          <p:cNvSpPr/>
          <p:nvPr/>
        </p:nvSpPr>
        <p:spPr>
          <a:xfrm>
            <a:off x="3718884" y="2220268"/>
            <a:ext cx="2058128" cy="25393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22C"/>
                </a:solidFill>
                <a:latin typeface="Space Grotesk" pitchFamily="34" charset="0"/>
                <a:ea typeface="Space Grotesk" pitchFamily="34" charset="-122"/>
                <a:cs typeface="Space Grotesk" pitchFamily="34" charset="-120"/>
              </a:rPr>
              <a:t>RGB-D YOLOv8n</a:t>
            </a:r>
            <a:endParaRPr lang="en-US" sz="1500" dirty="0"/>
          </a:p>
        </p:txBody>
      </p:sp>
      <p:sp>
        <p:nvSpPr>
          <p:cNvPr id="11" name="Text 9"/>
          <p:cNvSpPr/>
          <p:nvPr/>
        </p:nvSpPr>
        <p:spPr>
          <a:xfrm>
            <a:off x="3718884" y="2486834"/>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4-channel input stem</a:t>
            </a:r>
            <a:endParaRPr lang="en-US" sz="1200" dirty="0"/>
          </a:p>
        </p:txBody>
      </p:sp>
      <p:sp>
        <p:nvSpPr>
          <p:cNvPr id="12" name="Text 10"/>
          <p:cNvSpPr/>
          <p:nvPr/>
        </p:nvSpPr>
        <p:spPr>
          <a:xfrm>
            <a:off x="3718884" y="2738189"/>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ONNX Runtime CUDA</a:t>
            </a:r>
            <a:endParaRPr lang="en-US" sz="1200" dirty="0"/>
          </a:p>
        </p:txBody>
      </p:sp>
      <p:sp>
        <p:nvSpPr>
          <p:cNvPr id="13" name="Shape 11"/>
          <p:cNvSpPr/>
          <p:nvPr/>
        </p:nvSpPr>
        <p:spPr>
          <a:xfrm>
            <a:off x="6330884" y="2076382"/>
            <a:ext cx="2285950" cy="1193800"/>
          </a:xfrm>
          <a:prstGeom prst="roundRect">
            <a:avLst>
              <a:gd name="adj" fmla="val 6915"/>
            </a:avLst>
          </a:prstGeom>
          <a:solidFill>
            <a:srgbClr val="FBFAF6"/>
          </a:solidFill>
          <a:ln w="12700">
            <a:solidFill>
              <a:srgbClr val="D3D6D2"/>
            </a:solidFill>
            <a:prstDash val="solid"/>
          </a:ln>
          <a:effectLst>
            <a:outerShdw sx="100000" sy="100000" kx="0" ky="0" algn="bl" rotWithShape="0" blurRad="0" dist="89803" dir="2700000">
              <a:srgbClr val="D3D6D2">
                <a:alpha val="100000"/>
              </a:srgbClr>
            </a:outerShdw>
          </a:effectLst>
        </p:spPr>
      </p:sp>
      <p:sp>
        <p:nvSpPr>
          <p:cNvPr id="14" name="Text 12"/>
          <p:cNvSpPr/>
          <p:nvPr/>
        </p:nvSpPr>
        <p:spPr>
          <a:xfrm>
            <a:off x="6474768" y="2220268"/>
            <a:ext cx="2058128" cy="25393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22C"/>
                </a:solidFill>
                <a:latin typeface="Space Grotesk" pitchFamily="34" charset="0"/>
                <a:ea typeface="Space Grotesk" pitchFamily="34" charset="-122"/>
                <a:cs typeface="Space Grotesk" pitchFamily="34" charset="-120"/>
              </a:rPr>
              <a:t>FoundationPose</a:t>
            </a:r>
            <a:endParaRPr lang="en-US" sz="1500" dirty="0"/>
          </a:p>
        </p:txBody>
      </p:sp>
      <p:sp>
        <p:nvSpPr>
          <p:cNvPr id="15" name="Text 13"/>
          <p:cNvSpPr/>
          <p:nvPr/>
        </p:nvSpPr>
        <p:spPr>
          <a:xfrm>
            <a:off x="6474768" y="2486834"/>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6-DoF from mesh + RGB-D</a:t>
            </a:r>
            <a:endParaRPr lang="en-US" sz="1200" dirty="0"/>
          </a:p>
        </p:txBody>
      </p:sp>
      <p:sp>
        <p:nvSpPr>
          <p:cNvPr id="16" name="Text 14"/>
          <p:cNvSpPr/>
          <p:nvPr/>
        </p:nvSpPr>
        <p:spPr>
          <a:xfrm>
            <a:off x="6474768" y="2738189"/>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pretrained, frozen</a:t>
            </a:r>
            <a:endParaRPr lang="en-US" sz="1200" dirty="0"/>
          </a:p>
        </p:txBody>
      </p:sp>
      <p:sp>
        <p:nvSpPr>
          <p:cNvPr id="17" name="Shape 15"/>
          <p:cNvSpPr/>
          <p:nvPr/>
        </p:nvSpPr>
        <p:spPr>
          <a:xfrm>
            <a:off x="9086850" y="2076382"/>
            <a:ext cx="2285950" cy="1193800"/>
          </a:xfrm>
          <a:prstGeom prst="roundRect">
            <a:avLst>
              <a:gd name="adj" fmla="val 6915"/>
            </a:avLst>
          </a:prstGeom>
          <a:solidFill>
            <a:srgbClr val="FBFAF6"/>
          </a:solidFill>
          <a:ln w="12700">
            <a:solidFill>
              <a:srgbClr val="D3D6D2"/>
            </a:solidFill>
            <a:prstDash val="solid"/>
          </a:ln>
          <a:effectLst>
            <a:outerShdw sx="100000" sy="100000" kx="0" ky="0" algn="bl" rotWithShape="0" blurRad="0" dist="89803" dir="2700000">
              <a:srgbClr val="D3D6D2">
                <a:alpha val="100000"/>
              </a:srgbClr>
            </a:outerShdw>
          </a:effectLst>
        </p:spPr>
      </p:sp>
      <p:sp>
        <p:nvSpPr>
          <p:cNvPr id="18" name="Text 16"/>
          <p:cNvSpPr/>
          <p:nvPr/>
        </p:nvSpPr>
        <p:spPr>
          <a:xfrm>
            <a:off x="9230733" y="2220268"/>
            <a:ext cx="2058128" cy="25393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22C"/>
                </a:solidFill>
                <a:latin typeface="Space Grotesk" pitchFamily="34" charset="0"/>
                <a:ea typeface="Space Grotesk" pitchFamily="34" charset="-122"/>
                <a:cs typeface="Space Grotesk" pitchFamily="34" charset="-120"/>
              </a:rPr>
              <a:t>World-frame lift</a:t>
            </a:r>
            <a:endParaRPr lang="en-US" sz="1500" dirty="0"/>
          </a:p>
        </p:txBody>
      </p:sp>
      <p:sp>
        <p:nvSpPr>
          <p:cNvPr id="19" name="Text 17"/>
          <p:cNvSpPr/>
          <p:nvPr/>
        </p:nvSpPr>
        <p:spPr>
          <a:xfrm>
            <a:off x="9230733" y="2486834"/>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world = table frame</a:t>
            </a:r>
            <a:endParaRPr lang="en-US" sz="1200" dirty="0"/>
          </a:p>
        </p:txBody>
      </p:sp>
      <p:sp>
        <p:nvSpPr>
          <p:cNvPr id="20" name="Text 18"/>
          <p:cNvSpPr/>
          <p:nvPr/>
        </p:nvSpPr>
        <p:spPr>
          <a:xfrm>
            <a:off x="9230733" y="2738189"/>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from ChArUco extrinsics</a:t>
            </a:r>
            <a:endParaRPr lang="en-US" sz="1200" dirty="0"/>
          </a:p>
        </p:txBody>
      </p:sp>
      <p:pic>
        <p:nvPicPr>
          <p:cNvPr id="21" name="Image 0" descr="connector">    </p:cNvPr>
          <p:cNvPicPr>
            <a:picLocks noChangeAspect="1"/>
          </p:cNvPicPr>
          <p:nvPr/>
        </p:nvPicPr>
        <p:blipFill>
          <a:blip r:embed="rId1"/>
          <a:srcRect l="-30" r="-30" t="0" b="0"/>
          <a:stretch/>
        </p:blipFill>
        <p:spPr>
          <a:xfrm>
            <a:off x="3060650" y="2622516"/>
            <a:ext cx="558767" cy="101534"/>
          </a:xfrm>
          <a:prstGeom prst="rect">
            <a:avLst/>
          </a:prstGeom>
        </p:spPr>
      </p:pic>
      <p:pic>
        <p:nvPicPr>
          <p:cNvPr id="22" name="Image 1" descr="connector">    </p:cNvPr>
          <p:cNvPicPr>
            <a:picLocks noChangeAspect="1"/>
          </p:cNvPicPr>
          <p:nvPr/>
        </p:nvPicPr>
        <p:blipFill>
          <a:blip r:embed="rId2"/>
          <a:srcRect l="-30" r="-30" t="0" b="0"/>
          <a:stretch/>
        </p:blipFill>
        <p:spPr>
          <a:xfrm>
            <a:off x="5816534" y="2622516"/>
            <a:ext cx="558767" cy="101534"/>
          </a:xfrm>
          <a:prstGeom prst="rect">
            <a:avLst/>
          </a:prstGeom>
        </p:spPr>
      </p:pic>
      <p:pic>
        <p:nvPicPr>
          <p:cNvPr id="23" name="Image 2" descr="connector">    </p:cNvPr>
          <p:cNvPicPr>
            <a:picLocks noChangeAspect="1"/>
          </p:cNvPicPr>
          <p:nvPr/>
        </p:nvPicPr>
        <p:blipFill>
          <a:blip r:embed="rId3"/>
          <a:srcRect l="-30" r="-30" t="0" b="0"/>
          <a:stretch/>
        </p:blipFill>
        <p:spPr>
          <a:xfrm>
            <a:off x="8572500" y="2622516"/>
            <a:ext cx="558767" cy="101534"/>
          </a:xfrm>
          <a:prstGeom prst="rect">
            <a:avLst/>
          </a:prstGeom>
        </p:spPr>
      </p:pic>
      <p:pic>
        <p:nvPicPr>
          <p:cNvPr id="24" name="Image 3" descr="connector">    </p:cNvPr>
          <p:cNvPicPr>
            <a:picLocks noChangeAspect="1"/>
          </p:cNvPicPr>
          <p:nvPr/>
        </p:nvPicPr>
        <p:blipFill>
          <a:blip r:embed="rId4"/>
          <a:srcRect l="-5" r="-5" t="0" b="0"/>
          <a:stretch/>
        </p:blipFill>
        <p:spPr>
          <a:xfrm>
            <a:off x="1911284" y="3225766"/>
            <a:ext cx="8369267" cy="457150"/>
          </a:xfrm>
          <a:prstGeom prst="rect">
            <a:avLst/>
          </a:prstGeom>
        </p:spPr>
      </p:pic>
      <p:pic>
        <p:nvPicPr>
          <p:cNvPr id="25" name="Image 4" descr="connector">    </p:cNvPr>
          <p:cNvPicPr>
            <a:picLocks noChangeAspect="1"/>
          </p:cNvPicPr>
          <p:nvPr/>
        </p:nvPicPr>
        <p:blipFill>
          <a:blip r:embed="rId5"/>
          <a:srcRect l="0" r="0" t="-29" b="-29"/>
          <a:stretch/>
        </p:blipFill>
        <p:spPr>
          <a:xfrm>
            <a:off x="1911284" y="3581381"/>
            <a:ext cx="101534" cy="495267"/>
          </a:xfrm>
          <a:prstGeom prst="rect">
            <a:avLst/>
          </a:prstGeom>
        </p:spPr>
      </p:pic>
      <p:sp>
        <p:nvSpPr>
          <p:cNvPr id="26" name="Text 19"/>
          <p:cNvSpPr/>
          <p:nvPr/>
        </p:nvSpPr>
        <p:spPr>
          <a:xfrm>
            <a:off x="2184383" y="369565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36B"/>
                </a:solidFill>
                <a:latin typeface="IBM Plex Mono" pitchFamily="34" charset="0"/>
                <a:ea typeface="IBM Plex Mono" pitchFamily="34" charset="-122"/>
                <a:cs typeface="IBM Plex Mono" pitchFamily="34" charset="-120"/>
              </a:rPr>
              <a:t>ONCE PER FRAME PAIR · C++, written from first principles</a:t>
            </a:r>
            <a:endParaRPr lang="en-US" sz="1200" dirty="0"/>
          </a:p>
        </p:txBody>
      </p:sp>
      <p:sp>
        <p:nvSpPr>
          <p:cNvPr id="27" name="Shape 20"/>
          <p:cNvSpPr/>
          <p:nvPr/>
        </p:nvSpPr>
        <p:spPr>
          <a:xfrm>
            <a:off x="819117" y="4032231"/>
            <a:ext cx="2285950" cy="1193800"/>
          </a:xfrm>
          <a:prstGeom prst="roundRect">
            <a:avLst>
              <a:gd name="adj" fmla="val 6915"/>
            </a:avLst>
          </a:prstGeom>
          <a:solidFill>
            <a:srgbClr val="DCEBE8"/>
          </a:solidFill>
          <a:ln w="12700">
            <a:solidFill>
              <a:srgbClr val="0E736B"/>
            </a:solidFill>
            <a:prstDash val="solid"/>
          </a:ln>
        </p:spPr>
      </p:sp>
      <p:sp>
        <p:nvSpPr>
          <p:cNvPr id="28" name="Text 21"/>
          <p:cNvSpPr/>
          <p:nvPr/>
        </p:nvSpPr>
        <p:spPr>
          <a:xfrm>
            <a:off x="963001" y="4176117"/>
            <a:ext cx="2058128" cy="25393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22C"/>
                </a:solidFill>
                <a:latin typeface="Space Grotesk" pitchFamily="34" charset="0"/>
                <a:ea typeface="Space Grotesk" pitchFamily="34" charset="-122"/>
                <a:cs typeface="Space Grotesk" pitchFamily="34" charset="-120"/>
              </a:rPr>
              <a:t>Association ★</a:t>
            </a:r>
            <a:endParaRPr lang="en-US" sz="1500" dirty="0"/>
          </a:p>
        </p:txBody>
      </p:sp>
      <p:sp>
        <p:nvSpPr>
          <p:cNvPr id="29" name="Text 22"/>
          <p:cNvSpPr/>
          <p:nvPr/>
        </p:nvSpPr>
        <p:spPr>
          <a:xfrm>
            <a:off x="963001" y="4442681"/>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nearest neighbour</a:t>
            </a:r>
            <a:endParaRPr lang="en-US" sz="1200" dirty="0"/>
          </a:p>
        </p:txBody>
      </p:sp>
      <p:sp>
        <p:nvSpPr>
          <p:cNvPr id="30" name="Text 23"/>
          <p:cNvSpPr/>
          <p:nvPr/>
        </p:nvSpPr>
        <p:spPr>
          <a:xfrm>
            <a:off x="963001" y="4694039"/>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per class, ≤ 150 mm</a:t>
            </a:r>
            <a:endParaRPr lang="en-US" sz="1200" dirty="0"/>
          </a:p>
        </p:txBody>
      </p:sp>
      <p:sp>
        <p:nvSpPr>
          <p:cNvPr id="31" name="Shape 24"/>
          <p:cNvSpPr/>
          <p:nvPr/>
        </p:nvSpPr>
        <p:spPr>
          <a:xfrm>
            <a:off x="3575000" y="4032231"/>
            <a:ext cx="2285950" cy="1193800"/>
          </a:xfrm>
          <a:prstGeom prst="roundRect">
            <a:avLst>
              <a:gd name="adj" fmla="val 6915"/>
            </a:avLst>
          </a:prstGeom>
          <a:solidFill>
            <a:srgbClr val="DCEBE8"/>
          </a:solidFill>
          <a:ln w="12700">
            <a:solidFill>
              <a:srgbClr val="0E736B"/>
            </a:solidFill>
            <a:prstDash val="solid"/>
          </a:ln>
        </p:spPr>
      </p:sp>
      <p:sp>
        <p:nvSpPr>
          <p:cNvPr id="32" name="Text 25"/>
          <p:cNvSpPr/>
          <p:nvPr/>
        </p:nvSpPr>
        <p:spPr>
          <a:xfrm>
            <a:off x="3718884" y="4176117"/>
            <a:ext cx="2058128" cy="25393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22C"/>
                </a:solidFill>
                <a:latin typeface="Space Grotesk" pitchFamily="34" charset="0"/>
                <a:ea typeface="Space Grotesk" pitchFamily="34" charset="-122"/>
                <a:cs typeface="Space Grotesk" pitchFamily="34" charset="-120"/>
              </a:rPr>
              <a:t>Fusion ★</a:t>
            </a:r>
            <a:endParaRPr lang="en-US" sz="1500" dirty="0"/>
          </a:p>
        </p:txBody>
      </p:sp>
      <p:sp>
        <p:nvSpPr>
          <p:cNvPr id="33" name="Text 26"/>
          <p:cNvSpPr/>
          <p:nvPr/>
        </p:nvSpPr>
        <p:spPr>
          <a:xfrm>
            <a:off x="3718884" y="4442681"/>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50 mm / 30° gate</a:t>
            </a:r>
            <a:endParaRPr lang="en-US" sz="1200" dirty="0"/>
          </a:p>
        </p:txBody>
      </p:sp>
      <p:sp>
        <p:nvSpPr>
          <p:cNvPr id="34" name="Text 27"/>
          <p:cNvSpPr/>
          <p:nvPr/>
        </p:nvSpPr>
        <p:spPr>
          <a:xfrm>
            <a:off x="3718884" y="4694039"/>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score-weighted + EKF</a:t>
            </a:r>
            <a:endParaRPr lang="en-US" sz="1200" dirty="0"/>
          </a:p>
        </p:txBody>
      </p:sp>
      <p:sp>
        <p:nvSpPr>
          <p:cNvPr id="35" name="Shape 28"/>
          <p:cNvSpPr/>
          <p:nvPr/>
        </p:nvSpPr>
        <p:spPr>
          <a:xfrm>
            <a:off x="6330884" y="4032231"/>
            <a:ext cx="2285950" cy="1193800"/>
          </a:xfrm>
          <a:prstGeom prst="roundRect">
            <a:avLst>
              <a:gd name="adj" fmla="val 6915"/>
            </a:avLst>
          </a:prstGeom>
          <a:solidFill>
            <a:srgbClr val="DCEBE8"/>
          </a:solidFill>
          <a:ln w="12700">
            <a:solidFill>
              <a:srgbClr val="0E736B"/>
            </a:solidFill>
            <a:prstDash val="solid"/>
          </a:ln>
        </p:spPr>
      </p:sp>
      <p:sp>
        <p:nvSpPr>
          <p:cNvPr id="36" name="Text 29"/>
          <p:cNvSpPr/>
          <p:nvPr/>
        </p:nvSpPr>
        <p:spPr>
          <a:xfrm>
            <a:off x="6474768" y="4176117"/>
            <a:ext cx="2058128" cy="25393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22C"/>
                </a:solidFill>
                <a:latin typeface="Space Grotesk" pitchFamily="34" charset="0"/>
                <a:ea typeface="Space Grotesk" pitchFamily="34" charset="-122"/>
                <a:cs typeface="Space Grotesk" pitchFamily="34" charset="-120"/>
              </a:rPr>
              <a:t>Scene graph ★</a:t>
            </a:r>
            <a:endParaRPr lang="en-US" sz="1500" dirty="0"/>
          </a:p>
        </p:txBody>
      </p:sp>
      <p:sp>
        <p:nvSpPr>
          <p:cNvPr id="37" name="Text 30"/>
          <p:cNvSpPr/>
          <p:nvPr/>
        </p:nvSpPr>
        <p:spPr>
          <a:xfrm>
            <a:off x="6474768" y="4442681"/>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on · in · clear</a:t>
            </a:r>
            <a:endParaRPr lang="en-US" sz="1200" dirty="0"/>
          </a:p>
        </p:txBody>
      </p:sp>
      <p:sp>
        <p:nvSpPr>
          <p:cNvPr id="38" name="Text 31"/>
          <p:cNvSpPr/>
          <p:nvPr/>
        </p:nvSpPr>
        <p:spPr>
          <a:xfrm>
            <a:off x="6474768" y="4694039"/>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occluded_from</a:t>
            </a:r>
            <a:endParaRPr lang="en-US" sz="1200" dirty="0"/>
          </a:p>
        </p:txBody>
      </p:sp>
      <p:sp>
        <p:nvSpPr>
          <p:cNvPr id="39" name="Shape 32"/>
          <p:cNvSpPr/>
          <p:nvPr/>
        </p:nvSpPr>
        <p:spPr>
          <a:xfrm>
            <a:off x="9086850" y="4032231"/>
            <a:ext cx="2285950" cy="1193800"/>
          </a:xfrm>
          <a:prstGeom prst="roundRect">
            <a:avLst>
              <a:gd name="adj" fmla="val 6915"/>
            </a:avLst>
          </a:prstGeom>
          <a:solidFill>
            <a:srgbClr val="FBFAF6"/>
          </a:solidFill>
          <a:ln w="12700">
            <a:solidFill>
              <a:srgbClr val="D3D6D2"/>
            </a:solidFill>
            <a:prstDash val="solid"/>
          </a:ln>
          <a:effectLst>
            <a:outerShdw sx="100000" sy="100000" kx="0" ky="0" algn="bl" rotWithShape="0" blurRad="0" dist="89803" dir="2700000">
              <a:srgbClr val="D3D6D2">
                <a:alpha val="100000"/>
              </a:srgbClr>
            </a:outerShdw>
          </a:effectLst>
        </p:spPr>
      </p:sp>
      <p:sp>
        <p:nvSpPr>
          <p:cNvPr id="40" name="Text 33"/>
          <p:cNvSpPr/>
          <p:nvPr/>
        </p:nvSpPr>
        <p:spPr>
          <a:xfrm>
            <a:off x="9230733" y="4176117"/>
            <a:ext cx="2058128" cy="25393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22C"/>
                </a:solidFill>
                <a:latin typeface="Space Grotesk" pitchFamily="34" charset="0"/>
                <a:ea typeface="Space Grotesk" pitchFamily="34" charset="-122"/>
                <a:cs typeface="Space Grotesk" pitchFamily="34" charset="-120"/>
              </a:rPr>
              <a:t>Outputs</a:t>
            </a:r>
            <a:endParaRPr lang="en-US" sz="1500" dirty="0"/>
          </a:p>
        </p:txBody>
      </p:sp>
      <p:sp>
        <p:nvSpPr>
          <p:cNvPr id="41" name="Text 34"/>
          <p:cNvSpPr/>
          <p:nvPr/>
        </p:nvSpPr>
        <p:spPr>
          <a:xfrm>
            <a:off x="9230733" y="4442681"/>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scene graph JSON</a:t>
            </a:r>
            <a:endParaRPr lang="en-US" sz="1200" dirty="0"/>
          </a:p>
        </p:txBody>
      </p:sp>
      <p:sp>
        <p:nvSpPr>
          <p:cNvPr id="42" name="Text 35"/>
          <p:cNvSpPr/>
          <p:nvPr/>
        </p:nvSpPr>
        <p:spPr>
          <a:xfrm>
            <a:off x="9230733" y="4694039"/>
            <a:ext cx="2058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4"/>
                </a:solidFill>
                <a:latin typeface="IBM Plex Sans" pitchFamily="34" charset="0"/>
                <a:ea typeface="IBM Plex Sans" pitchFamily="34" charset="-122"/>
                <a:cs typeface="IBM Plex Sans" pitchFamily="34" charset="-120"/>
              </a:rPr>
              <a:t>PDDL (:init) facts</a:t>
            </a:r>
            <a:endParaRPr lang="en-US" sz="1200" dirty="0"/>
          </a:p>
        </p:txBody>
      </p:sp>
      <p:pic>
        <p:nvPicPr>
          <p:cNvPr id="43" name="Image 5" descr="connector">    </p:cNvPr>
          <p:cNvPicPr>
            <a:picLocks noChangeAspect="1"/>
          </p:cNvPicPr>
          <p:nvPr/>
        </p:nvPicPr>
        <p:blipFill>
          <a:blip r:embed="rId6"/>
          <a:srcRect l="-30" r="-30" t="0" b="0"/>
          <a:stretch/>
        </p:blipFill>
        <p:spPr>
          <a:xfrm>
            <a:off x="3060650" y="4578282"/>
            <a:ext cx="558767" cy="101534"/>
          </a:xfrm>
          <a:prstGeom prst="rect">
            <a:avLst/>
          </a:prstGeom>
        </p:spPr>
      </p:pic>
      <p:pic>
        <p:nvPicPr>
          <p:cNvPr id="44" name="Image 6" descr="connector">    </p:cNvPr>
          <p:cNvPicPr>
            <a:picLocks noChangeAspect="1"/>
          </p:cNvPicPr>
          <p:nvPr/>
        </p:nvPicPr>
        <p:blipFill>
          <a:blip r:embed="rId7"/>
          <a:srcRect l="-30" r="-30" t="0" b="0"/>
          <a:stretch/>
        </p:blipFill>
        <p:spPr>
          <a:xfrm>
            <a:off x="5816534" y="4578282"/>
            <a:ext cx="558767" cy="101534"/>
          </a:xfrm>
          <a:prstGeom prst="rect">
            <a:avLst/>
          </a:prstGeom>
        </p:spPr>
      </p:pic>
      <p:pic>
        <p:nvPicPr>
          <p:cNvPr id="45" name="Image 7" descr="connector">    </p:cNvPr>
          <p:cNvPicPr>
            <a:picLocks noChangeAspect="1"/>
          </p:cNvPicPr>
          <p:nvPr/>
        </p:nvPicPr>
        <p:blipFill>
          <a:blip r:embed="rId8"/>
          <a:srcRect l="-30" r="-30" t="0" b="0"/>
          <a:stretch/>
        </p:blipFill>
        <p:spPr>
          <a:xfrm>
            <a:off x="8572500" y="4578282"/>
            <a:ext cx="558767" cy="101534"/>
          </a:xfrm>
          <a:prstGeom prst="rect">
            <a:avLst/>
          </a:prstGeom>
        </p:spPr>
      </p:pic>
      <p:sp>
        <p:nvSpPr>
          <p:cNvPr id="46" name="Text 36"/>
          <p:cNvSpPr/>
          <p:nvPr/>
        </p:nvSpPr>
        <p:spPr>
          <a:xfrm>
            <a:off x="812767" y="5410150"/>
            <a:ext cx="108833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 = no fusion, pose-averaging or scene-graph library; Eigen for linear algebra only. One C++17 process, no ROS2; Python only for training.</a:t>
            </a:r>
            <a:endParaRPr lang="en-US" sz="1200" dirty="0"/>
          </a:p>
        </p:txBody>
      </p:sp>
      <p:sp>
        <p:nvSpPr>
          <p:cNvPr id="47" name="Text 37"/>
          <p:cNvSpPr/>
          <p:nvPr/>
        </p:nvSpPr>
        <p:spPr>
          <a:xfrm>
            <a:off x="812767" y="6286581"/>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48" name="Text 38"/>
          <p:cNvSpPr/>
          <p:nvPr/>
        </p:nvSpPr>
        <p:spPr>
          <a:xfrm>
            <a:off x="10830553" y="6286581"/>
            <a:ext cx="599397"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8 / 18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04 · TECHNICAL APPROACH</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Techniques: three networks, one trained here</a:t>
            </a:r>
            <a:endParaRPr lang="en-US" sz="3200" dirty="0"/>
          </a:p>
        </p:txBody>
      </p:sp>
      <p:sp>
        <p:nvSpPr>
          <p:cNvPr id="4" name="Shape 2"/>
          <p:cNvSpPr/>
          <p:nvPr/>
        </p:nvSpPr>
        <p:spPr>
          <a:xfrm>
            <a:off x="7769291" y="1879451"/>
            <a:ext cx="0" cy="2137585"/>
          </a:xfrm>
          <a:prstGeom prst="line">
            <a:avLst/>
          </a:prstGeom>
          <a:noFill/>
          <a:ln w="6350">
            <a:solidFill>
              <a:srgbClr val="D3D6D2"/>
            </a:solidFill>
            <a:prstDash val="solid"/>
          </a:ln>
        </p:spPr>
      </p:sp>
      <p:sp>
        <p:nvSpPr>
          <p:cNvPr id="5" name="Shape 3"/>
          <p:cNvSpPr/>
          <p:nvPr/>
        </p:nvSpPr>
        <p:spPr>
          <a:xfrm>
            <a:off x="812767" y="4013861"/>
            <a:ext cx="6959699" cy="0"/>
          </a:xfrm>
          <a:prstGeom prst="line">
            <a:avLst/>
          </a:prstGeom>
          <a:noFill/>
          <a:ln w="6350">
            <a:solidFill>
              <a:srgbClr val="D3D6D2"/>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350" y="1890035"/>
          <a:ext cx="6943824" cy="2121710"/>
        </p:xfrm>
        <a:graphic>
          <a:graphicData uri="http://schemas.openxmlformats.org/drawingml/2006/table">
            <a:tbl>
              <a:tblPr/>
              <a:tblGrid>
                <a:gridCol w="1944271"/>
                <a:gridCol w="1249888"/>
                <a:gridCol w="1388765"/>
                <a:gridCol w="2360900"/>
              </a:tblGrid>
              <a:tr h="357105">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Network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Parameters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Trained here?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Role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r>
              <a:tr h="588202">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RGB-D YOLOv8n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3,011,577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Yes · 40 epochs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Detect objects, gate the pose step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88202">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FoundationPose refiner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17,043,797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No · frozen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Refine pose hypotheses (transformer)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88202">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FoundationPose scorer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15,986,512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No · frozen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Rank hypotheses; its score weights fusion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7" name="Text 4"/>
          <p:cNvSpPr/>
          <p:nvPr/>
        </p:nvSpPr>
        <p:spPr>
          <a:xfrm>
            <a:off x="812767" y="4194801"/>
            <a:ext cx="7168490" cy="77202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4"/>
                </a:solidFill>
                <a:latin typeface="IBM Plex Sans" pitchFamily="34" charset="0"/>
                <a:ea typeface="IBM Plex Sans" pitchFamily="34" charset="-122"/>
                <a:cs typeface="IBM Plex Sans" pitchFamily="34" charset="-120"/>
              </a:rPr>
              <a:t>Why early fusion:</a:t>
            </a:r>
            <a:r>
              <a:rPr lang="en-US" sz="1400" dirty="0">
                <a:solidFill>
                  <a:srgbClr val="3E4A54"/>
                </a:solidFill>
                <a:latin typeface="IBM Plex Sans" pitchFamily="34" charset="0"/>
                <a:ea typeface="IBM Plex Sans" pitchFamily="34" charset="-122"/>
                <a:cs typeface="IBM Plex Sans" pitchFamily="34" charset="-120"/>
              </a:rPr>
              <a:t> depth enters as a 4th input channel, so the whole COCO-pretrained backbone is reused; a separate depth branch would train from scratch. An RGB-only twin is kept as the ablation control.</a:t>
            </a:r>
            <a:endParaRPr lang="en-US" sz="1400" dirty="0"/>
          </a:p>
        </p:txBody>
      </p:sp>
      <p:sp>
        <p:nvSpPr>
          <p:cNvPr id="8" name="Shape 5"/>
          <p:cNvSpPr/>
          <p:nvPr/>
        </p:nvSpPr>
        <p:spPr>
          <a:xfrm>
            <a:off x="8083583" y="1885801"/>
            <a:ext cx="3289300" cy="1636316"/>
          </a:xfrm>
          <a:prstGeom prst="roundRect">
            <a:avLst>
              <a:gd name="adj" fmla="val 5821"/>
            </a:avLst>
          </a:prstGeom>
          <a:solidFill>
            <a:srgbClr val="FBFAF6"/>
          </a:solidFill>
          <a:ln w="12700">
            <a:solidFill>
              <a:srgbClr val="D3D6D2"/>
            </a:solidFill>
            <a:prstDash val="solid"/>
          </a:ln>
        </p:spPr>
      </p:sp>
      <p:sp>
        <p:nvSpPr>
          <p:cNvPr id="9" name="Text 6"/>
          <p:cNvSpPr/>
          <p:nvPr/>
        </p:nvSpPr>
        <p:spPr>
          <a:xfrm>
            <a:off x="8290967" y="2067799"/>
            <a:ext cx="2960768" cy="446832"/>
          </a:xfrm>
          <a:prstGeom prst="rect">
            <a:avLst/>
          </a:prstGeom>
          <a:noFill/>
          <a:ln/>
        </p:spPr>
        <p:txBody>
          <a:bodyPr wrap="square" lIns="0" tIns="0" rIns="0" bIns="0" rtlCol="0" anchor="t">
            <a:normAutofit/>
          </a:bodyPr>
          <a:lstStyle/>
          <a:p>
            <a:pPr algn="l" indent="0" marL="0">
              <a:lnSpc>
                <a:spcPts val="3317"/>
              </a:lnSpc>
              <a:buNone/>
            </a:pPr>
            <a:r>
              <a:rPr lang="en-US" sz="3015" b="1" dirty="0">
                <a:solidFill>
                  <a:srgbClr val="0E736B"/>
                </a:solidFill>
                <a:latin typeface="Space Grotesk" pitchFamily="34" charset="0"/>
                <a:ea typeface="Space Grotesk" pitchFamily="34" charset="-122"/>
                <a:cs typeface="Space Grotesk" pitchFamily="34" charset="-120"/>
              </a:rPr>
              <a:t>144</a:t>
            </a:r>
            <a:endParaRPr lang="en-US" sz="3015" dirty="0"/>
          </a:p>
        </p:txBody>
      </p:sp>
      <p:sp>
        <p:nvSpPr>
          <p:cNvPr id="10" name="Text 7"/>
          <p:cNvSpPr/>
          <p:nvPr/>
        </p:nvSpPr>
        <p:spPr>
          <a:xfrm>
            <a:off x="8290967" y="2565381"/>
            <a:ext cx="2960768" cy="800133"/>
          </a:xfrm>
          <a:prstGeom prst="rect">
            <a:avLst/>
          </a:prstGeom>
          <a:noFill/>
          <a:ln/>
        </p:spPr>
        <p:txBody>
          <a:bodyPr wrap="square" lIns="0" tIns="0" rIns="0" bIns="0" rtlCol="0" anchor="t">
            <a:normAutofit/>
          </a:bodyPr>
          <a:lstStyle/>
          <a:p>
            <a:pPr algn="l" indent="0" marL="0">
              <a:lnSpc>
                <a:spcPts val="1672"/>
              </a:lnSpc>
              <a:buNone/>
            </a:pPr>
            <a:r>
              <a:rPr lang="en-US" sz="1194" dirty="0">
                <a:solidFill>
                  <a:srgbClr val="3E4A54"/>
                </a:solidFill>
                <a:latin typeface="IBM Plex Sans" pitchFamily="34" charset="0"/>
                <a:ea typeface="IBM Plex Sans" pitchFamily="34" charset="-122"/>
                <a:cs typeface="IBM Plex Sans" pitchFamily="34" charset="-120"/>
              </a:rPr>
              <a:t>parameters added by the depth channel, initialised from the mean of the pretrained RGB filters (COCO stem inflation)</a:t>
            </a:r>
            <a:endParaRPr lang="en-US" sz="1194" dirty="0"/>
          </a:p>
        </p:txBody>
      </p:sp>
      <p:sp>
        <p:nvSpPr>
          <p:cNvPr id="11" name="Shape 8"/>
          <p:cNvSpPr/>
          <p:nvPr/>
        </p:nvSpPr>
        <p:spPr>
          <a:xfrm>
            <a:off x="8083583" y="3712580"/>
            <a:ext cx="3289300" cy="1636398"/>
          </a:xfrm>
          <a:prstGeom prst="roundRect">
            <a:avLst>
              <a:gd name="adj" fmla="val 5821"/>
            </a:avLst>
          </a:prstGeom>
          <a:solidFill>
            <a:srgbClr val="FBFAF6"/>
          </a:solidFill>
          <a:ln w="12700">
            <a:solidFill>
              <a:srgbClr val="D3D6D2"/>
            </a:solidFill>
            <a:prstDash val="solid"/>
          </a:ln>
        </p:spPr>
      </p:sp>
      <p:sp>
        <p:nvSpPr>
          <p:cNvPr id="12" name="Text 9"/>
          <p:cNvSpPr/>
          <p:nvPr/>
        </p:nvSpPr>
        <p:spPr>
          <a:xfrm>
            <a:off x="8290967" y="3894584"/>
            <a:ext cx="2960768" cy="528356"/>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E736B"/>
                </a:solidFill>
                <a:latin typeface="Space Grotesk" pitchFamily="34" charset="0"/>
                <a:ea typeface="Space Grotesk" pitchFamily="34" charset="-122"/>
                <a:cs typeface="Space Grotesk" pitchFamily="34" charset="-120"/>
              </a:rPr>
              <a:t>8.4%</a:t>
            </a:r>
            <a:endParaRPr lang="en-US" sz="3600" dirty="0"/>
          </a:p>
        </p:txBody>
      </p:sp>
      <p:sp>
        <p:nvSpPr>
          <p:cNvPr id="13" name="Text 10"/>
          <p:cNvSpPr/>
          <p:nvPr/>
        </p:nvSpPr>
        <p:spPr>
          <a:xfrm>
            <a:off x="8290967" y="4473687"/>
            <a:ext cx="2960768"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of 36.0 M runtime parameters are trained in this project</a:t>
            </a:r>
            <a:endParaRPr lang="en-US" sz="1300" dirty="0"/>
          </a:p>
        </p:txBody>
      </p:sp>
      <p:sp>
        <p:nvSpPr>
          <p:cNvPr id="14" name="Text 11"/>
          <p:cNvSpPr/>
          <p:nvPr/>
        </p:nvSpPr>
        <p:spPr>
          <a:xfrm>
            <a:off x="812767" y="6286581"/>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15" name="Text 12"/>
          <p:cNvSpPr/>
          <p:nvPr/>
        </p:nvSpPr>
        <p:spPr>
          <a:xfrm>
            <a:off x="10830553" y="6286581"/>
            <a:ext cx="599397"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9 / 18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04 · TECHNICAL APPROACH</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Fusion and scene graph, from first principles</a:t>
            </a:r>
            <a:endParaRPr lang="en-US" sz="3200" dirty="0"/>
          </a:p>
        </p:txBody>
      </p:sp>
      <p:sp>
        <p:nvSpPr>
          <p:cNvPr id="4" name="Shape 2"/>
          <p:cNvSpPr/>
          <p:nvPr/>
        </p:nvSpPr>
        <p:spPr>
          <a:xfrm>
            <a:off x="819117" y="1885801"/>
            <a:ext cx="3390916" cy="2332170"/>
          </a:xfrm>
          <a:prstGeom prst="roundRect">
            <a:avLst>
              <a:gd name="adj" fmla="val 4084"/>
            </a:avLst>
          </a:prstGeom>
          <a:solidFill>
            <a:srgbClr val="DCEBE8"/>
          </a:solidFill>
          <a:ln w="12700">
            <a:solidFill>
              <a:srgbClr val="0E736B"/>
            </a:solidFill>
            <a:prstDash val="solid"/>
          </a:ln>
        </p:spPr>
      </p:sp>
      <p:sp>
        <p:nvSpPr>
          <p:cNvPr id="5" name="Text 3"/>
          <p:cNvSpPr/>
          <p:nvPr/>
        </p:nvSpPr>
        <p:spPr>
          <a:xfrm>
            <a:off x="1026501" y="2067799"/>
            <a:ext cx="3065433"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736B"/>
                </a:solidFill>
                <a:latin typeface="Space Grotesk" pitchFamily="34" charset="0"/>
                <a:ea typeface="Space Grotesk" pitchFamily="34" charset="-122"/>
                <a:cs typeface="Space Grotesk" pitchFamily="34" charset="-120"/>
              </a:rPr>
              <a:t>Association ★</a:t>
            </a:r>
            <a:endParaRPr lang="en-US" sz="1800" dirty="0"/>
          </a:p>
        </p:txBody>
      </p:sp>
      <p:sp>
        <p:nvSpPr>
          <p:cNvPr id="6" name="Text 4"/>
          <p:cNvSpPr/>
          <p:nvPr/>
        </p:nvSpPr>
        <p:spPr>
          <a:xfrm>
            <a:off x="1026501" y="2418290"/>
            <a:ext cx="3065433" cy="1643079"/>
          </a:xfrm>
          <a:prstGeom prst="rect">
            <a:avLst/>
          </a:prstGeom>
          <a:noFill/>
          <a:ln/>
        </p:spPr>
        <p:txBody>
          <a:bodyPr wrap="square" lIns="0" tIns="0" rIns="0" bIns="0" rtlCol="0" anchor="t">
            <a:normAutofit/>
          </a:bodyPr>
          <a:lstStyle/>
          <a:p>
            <a:pPr algn="l" marL="198120" indent="-168656">
              <a:lnSpc>
                <a:spcPts val="1820"/>
              </a:lnSpc>
              <a:buSzPct val="100000"/>
              <a:buChar char="•"/>
            </a:pPr>
            <a:r>
              <a:rPr lang="en-US" sz="1300" dirty="0">
                <a:solidFill>
                  <a:srgbClr val="3E4A54"/>
                </a:solidFill>
                <a:latin typeface="IBM Plex Sans" pitchFamily="34" charset="0"/>
                <a:ea typeface="IBM Plex Sans" pitchFamily="34" charset="-122"/>
                <a:cs typeface="IBM Plex Sans" pitchFamily="34" charset="-120"/>
              </a:rPr>
              <a:t>Lift every per-view pose into the table frame first, so distances are metric</a:t>
            </a:r>
            <a:endParaRPr lang="en-US" sz="1300" dirty="0"/>
          </a:p>
          <a:p>
            <a:pPr algn="l" marL="198120" indent="-168656">
              <a:lnSpc>
                <a:spcPts val="1820"/>
              </a:lnSpc>
              <a:buSzPct val="100000"/>
              <a:buChar char="•"/>
            </a:pPr>
            <a:r>
              <a:rPr lang="en-US" sz="1300" dirty="0">
                <a:solidFill>
                  <a:srgbClr val="3E4A54"/>
                </a:solidFill>
                <a:latin typeface="IBM Plex Sans" pitchFamily="34" charset="0"/>
                <a:ea typeface="IBM Plex Sans" pitchFamily="34" charset="-122"/>
                <a:cs typeface="IBM Plex Sans" pitchFamily="34" charset="-120"/>
              </a:rPr>
              <a:t>Greedy nearest neighbour per class, within 150 mm</a:t>
            </a:r>
            <a:endParaRPr lang="en-US" sz="1300" dirty="0"/>
          </a:p>
          <a:p>
            <a:pPr algn="l" marL="198120" indent="-168656">
              <a:lnSpc>
                <a:spcPts val="1820"/>
              </a:lnSpc>
              <a:buSzPct val="100000"/>
              <a:buChar char="•"/>
            </a:pPr>
            <a:r>
              <a:rPr lang="en-US" sz="1300" dirty="0">
                <a:solidFill>
                  <a:srgbClr val="3E4A54"/>
                </a:solidFill>
                <a:latin typeface="IBM Plex Sans" pitchFamily="34" charset="0"/>
                <a:ea typeface="IBM Plex Sans" pitchFamily="34" charset="-122"/>
                <a:cs typeface="IBM Plex Sans" pitchFamily="34" charset="-120"/>
              </a:rPr>
              <a:t>At most one estimate per camera per object</a:t>
            </a:r>
            <a:endParaRPr lang="en-US" sz="1300" dirty="0"/>
          </a:p>
        </p:txBody>
      </p:sp>
      <p:sp>
        <p:nvSpPr>
          <p:cNvPr id="7" name="Shape 5"/>
          <p:cNvSpPr/>
          <p:nvPr/>
        </p:nvSpPr>
        <p:spPr>
          <a:xfrm>
            <a:off x="4400500" y="1885801"/>
            <a:ext cx="3390999" cy="2332170"/>
          </a:xfrm>
          <a:prstGeom prst="roundRect">
            <a:avLst>
              <a:gd name="adj" fmla="val 4084"/>
            </a:avLst>
          </a:prstGeom>
          <a:solidFill>
            <a:srgbClr val="DCEBE8"/>
          </a:solidFill>
          <a:ln w="12700">
            <a:solidFill>
              <a:srgbClr val="0E736B"/>
            </a:solidFill>
            <a:prstDash val="solid"/>
          </a:ln>
        </p:spPr>
      </p:sp>
      <p:sp>
        <p:nvSpPr>
          <p:cNvPr id="8" name="Text 6"/>
          <p:cNvSpPr/>
          <p:nvPr/>
        </p:nvSpPr>
        <p:spPr>
          <a:xfrm>
            <a:off x="4607884" y="2067799"/>
            <a:ext cx="3065519"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736B"/>
                </a:solidFill>
                <a:latin typeface="Space Grotesk" pitchFamily="34" charset="0"/>
                <a:ea typeface="Space Grotesk" pitchFamily="34" charset="-122"/>
                <a:cs typeface="Space Grotesk" pitchFamily="34" charset="-120"/>
              </a:rPr>
              <a:t>Fusion ★</a:t>
            </a:r>
            <a:endParaRPr lang="en-US" sz="1800" dirty="0"/>
          </a:p>
        </p:txBody>
      </p:sp>
      <p:sp>
        <p:nvSpPr>
          <p:cNvPr id="9" name="Text 7"/>
          <p:cNvSpPr/>
          <p:nvPr/>
        </p:nvSpPr>
        <p:spPr>
          <a:xfrm>
            <a:off x="4607884" y="2418290"/>
            <a:ext cx="3065519" cy="1411982"/>
          </a:xfrm>
          <a:prstGeom prst="rect">
            <a:avLst/>
          </a:prstGeom>
          <a:noFill/>
          <a:ln/>
        </p:spPr>
        <p:txBody>
          <a:bodyPr wrap="square" lIns="0" tIns="0" rIns="0" bIns="0" rtlCol="0" anchor="t">
            <a:normAutofit/>
          </a:bodyPr>
          <a:lstStyle/>
          <a:p>
            <a:pPr algn="l" marL="198120" indent="-168656">
              <a:lnSpc>
                <a:spcPts val="1820"/>
              </a:lnSpc>
              <a:buSzPct val="100000"/>
              <a:buChar char="•"/>
            </a:pPr>
            <a:r>
              <a:rPr lang="en-US" sz="1300" dirty="0">
                <a:solidFill>
                  <a:srgbClr val="3E4A54"/>
                </a:solidFill>
                <a:latin typeface="IBM Plex Sans" pitchFamily="34" charset="0"/>
                <a:ea typeface="IBM Plex Sans" pitchFamily="34" charset="-122"/>
                <a:cs typeface="IBM Plex Sans" pitchFamily="34" charset="-120"/>
              </a:rPr>
              <a:t>Disagreement gate: views over 50 mm or 30° apart are not averaged</a:t>
            </a:r>
            <a:endParaRPr lang="en-US" sz="1300" dirty="0"/>
          </a:p>
          <a:p>
            <a:pPr algn="l" marL="198120" indent="-168656">
              <a:lnSpc>
                <a:spcPts val="1820"/>
              </a:lnSpc>
              <a:buSzPct val="100000"/>
              <a:buChar char="•"/>
            </a:pPr>
            <a:r>
              <a:rPr lang="en-US" sz="1300" dirty="0">
                <a:solidFill>
                  <a:srgbClr val="3E4A54"/>
                </a:solidFill>
                <a:latin typeface="IBM Plex Sans" pitchFamily="34" charset="0"/>
                <a:ea typeface="IBM Plex Sans" pitchFamily="34" charset="-122"/>
                <a:cs typeface="IBM Plex Sans" pitchFamily="34" charset="-120"/>
              </a:rPr>
              <a:t>Weight each view by its FoundationPose score</a:t>
            </a:r>
            <a:endParaRPr lang="en-US" sz="1300" dirty="0"/>
          </a:p>
          <a:p>
            <a:pPr algn="l" marL="198120" indent="-168656">
              <a:lnSpc>
                <a:spcPts val="1820"/>
              </a:lnSpc>
              <a:buSzPct val="100000"/>
              <a:buChar char="•"/>
            </a:pPr>
            <a:r>
              <a:rPr lang="en-US" sz="1300" dirty="0">
                <a:solidFill>
                  <a:srgbClr val="3E4A54"/>
                </a:solidFill>
                <a:latin typeface="IBM Plex Sans" pitchFamily="34" charset="0"/>
                <a:ea typeface="IBM Plex Sans" pitchFamily="34" charset="-122"/>
                <a:cs typeface="IBM Plex Sans" pitchFamily="34" charset="-120"/>
              </a:rPr>
              <a:t>Rotations by Markley quaternion averaging; per-object EKF over time</a:t>
            </a:r>
            <a:endParaRPr lang="en-US" sz="1300" dirty="0"/>
          </a:p>
        </p:txBody>
      </p:sp>
      <p:sp>
        <p:nvSpPr>
          <p:cNvPr id="10" name="Shape 8"/>
          <p:cNvSpPr/>
          <p:nvPr/>
        </p:nvSpPr>
        <p:spPr>
          <a:xfrm>
            <a:off x="7981966" y="1885801"/>
            <a:ext cx="3390916" cy="2332170"/>
          </a:xfrm>
          <a:prstGeom prst="roundRect">
            <a:avLst>
              <a:gd name="adj" fmla="val 4084"/>
            </a:avLst>
          </a:prstGeom>
          <a:solidFill>
            <a:srgbClr val="DCEBE8"/>
          </a:solidFill>
          <a:ln w="12700">
            <a:solidFill>
              <a:srgbClr val="0E736B"/>
            </a:solidFill>
            <a:prstDash val="solid"/>
          </a:ln>
        </p:spPr>
      </p:sp>
      <p:sp>
        <p:nvSpPr>
          <p:cNvPr id="11" name="Text 9"/>
          <p:cNvSpPr/>
          <p:nvPr/>
        </p:nvSpPr>
        <p:spPr>
          <a:xfrm>
            <a:off x="8189350" y="2067799"/>
            <a:ext cx="3065433"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736B"/>
                </a:solidFill>
                <a:latin typeface="Space Grotesk" pitchFamily="34" charset="0"/>
                <a:ea typeface="Space Grotesk" pitchFamily="34" charset="-122"/>
                <a:cs typeface="Space Grotesk" pitchFamily="34" charset="-120"/>
              </a:rPr>
              <a:t>Scene graph ★</a:t>
            </a:r>
            <a:endParaRPr lang="en-US" sz="1800" dirty="0"/>
          </a:p>
        </p:txBody>
      </p:sp>
      <p:sp>
        <p:nvSpPr>
          <p:cNvPr id="12" name="Text 10"/>
          <p:cNvSpPr/>
          <p:nvPr/>
        </p:nvSpPr>
        <p:spPr>
          <a:xfrm>
            <a:off x="8189350" y="2418290"/>
            <a:ext cx="3065433" cy="1411982"/>
          </a:xfrm>
          <a:prstGeom prst="rect">
            <a:avLst/>
          </a:prstGeom>
          <a:noFill/>
          <a:ln/>
        </p:spPr>
        <p:txBody>
          <a:bodyPr wrap="square" lIns="0" tIns="0" rIns="0" bIns="0" rtlCol="0" anchor="t">
            <a:normAutofit/>
          </a:bodyPr>
          <a:lstStyle/>
          <a:p>
            <a:pPr algn="l" marL="198120" indent="-168656">
              <a:lnSpc>
                <a:spcPts val="1820"/>
              </a:lnSpc>
              <a:buSzPct val="100000"/>
              <a:buChar char="•"/>
            </a:pPr>
            <a:r>
              <a:rPr lang="en-US" sz="1300" dirty="0">
                <a:solidFill>
                  <a:srgbClr val="3E4A54"/>
                </a:solidFill>
                <a:latin typeface="IBM Plex Sans" pitchFamily="34" charset="0"/>
                <a:ea typeface="IBM Plex Sans" pitchFamily="34" charset="-122"/>
                <a:cs typeface="IBM Plex Sans" pitchFamily="34" charset="-120"/>
              </a:rPr>
              <a:t>Geometric rules on bounding volumes</a:t>
            </a:r>
            <a:endParaRPr lang="en-US" sz="1300" dirty="0"/>
          </a:p>
          <a:p>
            <a:pPr algn="l" marL="198120" indent="-168656">
              <a:lnSpc>
                <a:spcPts val="1820"/>
              </a:lnSpc>
              <a:buSzPct val="100000"/>
              <a:buChar char="•"/>
            </a:pPr>
            <a:r>
              <a:rPr lang="en-US" sz="1300" dirty="0">
                <a:solidFill>
                  <a:srgbClr val="3E4A54"/>
                </a:solidFill>
                <a:latin typeface="IBM Plex Sans" pitchFamily="34" charset="0"/>
                <a:ea typeface="IBM Plex Sans" pitchFamily="34" charset="-122"/>
                <a:cs typeface="IBM Plex Sans" pitchFamily="34" charset="-120"/>
              </a:rPr>
              <a:t>on, in, clear, occluded_from</a:t>
            </a:r>
            <a:endParaRPr lang="en-US" sz="1300" dirty="0"/>
          </a:p>
          <a:p>
            <a:pPr algn="l" marL="198120" indent="-168656">
              <a:lnSpc>
                <a:spcPts val="1820"/>
              </a:lnSpc>
              <a:buSzPct val="100000"/>
              <a:buChar char="•"/>
            </a:pPr>
            <a:r>
              <a:rPr lang="en-US" sz="1300" i="1" dirty="0">
                <a:solidFill>
                  <a:srgbClr val="3E4A54"/>
                </a:solidFill>
                <a:latin typeface="IBM Plex Sans" pitchFamily="34" charset="0"/>
                <a:ea typeface="IBM Plex Sans" pitchFamily="34" charset="-122"/>
                <a:cs typeface="IBM Plex Sans" pitchFamily="34" charset="-120"/>
              </a:rPr>
              <a:t>in</a:t>
            </a:r>
            <a:r>
              <a:rPr lang="en-US" sz="1300" dirty="0">
                <a:solidFill>
                  <a:srgbClr val="3E4A54"/>
                </a:solidFill>
                <a:latin typeface="IBM Plex Sans" pitchFamily="34" charset="0"/>
                <a:ea typeface="IBM Plex Sans" pitchFamily="34" charset="-122"/>
                <a:cs typeface="IBM Plex Sans" pitchFamily="34" charset="-120"/>
              </a:rPr>
              <a:t> only for declared containers: a pose 1 cm low once put a cube </a:t>
            </a:r>
            <a:r>
              <a:rPr lang="en-US" sz="1300" i="1" dirty="0">
                <a:solidFill>
                  <a:srgbClr val="3E4A54"/>
                </a:solidFill>
                <a:latin typeface="IBM Plex Sans" pitchFamily="34" charset="0"/>
                <a:ea typeface="IBM Plex Sans" pitchFamily="34" charset="-122"/>
                <a:cs typeface="IBM Plex Sans" pitchFamily="34" charset="-120"/>
              </a:rPr>
              <a:t>in</a:t>
            </a:r>
            <a:r>
              <a:rPr lang="en-US" sz="1300" dirty="0">
                <a:solidFill>
                  <a:srgbClr val="3E4A54"/>
                </a:solidFill>
                <a:latin typeface="IBM Plex Sans" pitchFamily="34" charset="0"/>
                <a:ea typeface="IBM Plex Sans" pitchFamily="34" charset="-122"/>
                <a:cs typeface="IBM Plex Sans" pitchFamily="34" charset="-120"/>
              </a:rPr>
              <a:t> the table</a:t>
            </a:r>
            <a:endParaRPr lang="en-US" sz="1300" dirty="0"/>
          </a:p>
        </p:txBody>
      </p:sp>
      <p:sp>
        <p:nvSpPr>
          <p:cNvPr id="13" name="Shape 11"/>
          <p:cNvSpPr/>
          <p:nvPr/>
        </p:nvSpPr>
        <p:spPr>
          <a:xfrm>
            <a:off x="812767" y="4478319"/>
            <a:ext cx="3072805" cy="693291"/>
          </a:xfrm>
          <a:prstGeom prst="roundRect">
            <a:avLst>
              <a:gd name="adj" fmla="val 12823"/>
            </a:avLst>
          </a:prstGeom>
          <a:solidFill>
            <a:srgbClr val="14202B"/>
          </a:solidFill>
          <a:ln/>
        </p:spPr>
      </p:sp>
      <p:sp>
        <p:nvSpPr>
          <p:cNvPr id="14" name="Text 12"/>
          <p:cNvSpPr/>
          <p:nvPr/>
        </p:nvSpPr>
        <p:spPr>
          <a:xfrm>
            <a:off x="1015917" y="4700488"/>
            <a:ext cx="2746499" cy="27427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CCABD"/>
                </a:solidFill>
                <a:latin typeface="IBM Plex Mono" pitchFamily="34" charset="0"/>
                <a:ea typeface="IBM Plex Mono" pitchFamily="34" charset="-122"/>
                <a:cs typeface="IBM Plex Mono" pitchFamily="34" charset="-120"/>
              </a:rPr>
              <a:t>(on red_cube_01 table_01)</a:t>
            </a:r>
            <a:endParaRPr lang="en-US" sz="1400" dirty="0"/>
          </a:p>
        </p:txBody>
      </p:sp>
      <p:sp>
        <p:nvSpPr>
          <p:cNvPr id="15" name="Text 13"/>
          <p:cNvSpPr/>
          <p:nvPr/>
        </p:nvSpPr>
        <p:spPr>
          <a:xfrm>
            <a:off x="4088722" y="4478319"/>
            <a:ext cx="7509226" cy="71869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4A54"/>
                </a:solidFill>
                <a:latin typeface="IBM Plex Sans" pitchFamily="34" charset="0"/>
                <a:ea typeface="IBM Plex Sans" pitchFamily="34" charset="-122"/>
                <a:cs typeface="IBM Plex Sans" pitchFamily="34" charset="-120"/>
              </a:rPr>
              <a:t>Interface contract:</a:t>
            </a:r>
            <a:r>
              <a:rPr lang="en-US" sz="1300" dirty="0">
                <a:solidFill>
                  <a:srgbClr val="3E4A54"/>
                </a:solidFill>
                <a:latin typeface="IBM Plex Sans" pitchFamily="34" charset="0"/>
                <a:ea typeface="IBM Plex Sans" pitchFamily="34" charset="-122"/>
                <a:cs typeface="IBM Plex Sans" pitchFamily="34" charset="-120"/>
              </a:rPr>
              <a:t> ObjectState fields may be added, never removed or re-typed. It carries pose, confidence, which views saw the object, and 1-sigma uncertainty, so the capstone world model gets a belief, not just a pose.</a:t>
            </a:r>
            <a:endParaRPr lang="en-US" sz="1300" dirty="0"/>
          </a:p>
        </p:txBody>
      </p:sp>
      <p:sp>
        <p:nvSpPr>
          <p:cNvPr id="16" name="Text 14"/>
          <p:cNvSpPr/>
          <p:nvPr/>
        </p:nvSpPr>
        <p:spPr>
          <a:xfrm>
            <a:off x="812767" y="6286581"/>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17" name="Text 15"/>
          <p:cNvSpPr/>
          <p:nvPr/>
        </p:nvSpPr>
        <p:spPr>
          <a:xfrm>
            <a:off x="10739107" y="6286581"/>
            <a:ext cx="690844"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10 / 18</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04 · TECHNICAL APPROACH</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All four PRS technique categories</a:t>
            </a:r>
            <a:endParaRPr lang="en-US" sz="3200" dirty="0"/>
          </a:p>
        </p:txBody>
      </p:sp>
      <p:sp>
        <p:nvSpPr>
          <p:cNvPr id="4" name="Shape 2"/>
          <p:cNvSpPr/>
          <p:nvPr/>
        </p:nvSpPr>
        <p:spPr>
          <a:xfrm>
            <a:off x="11376058" y="1879451"/>
            <a:ext cx="0" cy="2725787"/>
          </a:xfrm>
          <a:prstGeom prst="line">
            <a:avLst/>
          </a:prstGeom>
          <a:noFill/>
          <a:ln w="6350">
            <a:solidFill>
              <a:srgbClr val="D3D6D2"/>
            </a:solidFill>
            <a:prstDash val="solid"/>
          </a:ln>
        </p:spPr>
      </p:sp>
      <p:sp>
        <p:nvSpPr>
          <p:cNvPr id="5" name="Shape 3"/>
          <p:cNvSpPr/>
          <p:nvPr/>
        </p:nvSpPr>
        <p:spPr>
          <a:xfrm>
            <a:off x="812767" y="4602063"/>
            <a:ext cx="10566466" cy="0"/>
          </a:xfrm>
          <a:prstGeom prst="line">
            <a:avLst/>
          </a:prstGeom>
          <a:noFill/>
          <a:ln w="6350">
            <a:solidFill>
              <a:srgbClr val="D3D6D2"/>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350" y="1890035"/>
          <a:ext cx="10550591" cy="2709912"/>
        </p:xfrm>
        <a:graphic>
          <a:graphicData uri="http://schemas.openxmlformats.org/drawingml/2006/table">
            <a:tbl>
              <a:tblPr/>
              <a:tblGrid>
                <a:gridCol w="633035"/>
                <a:gridCol w="2532142"/>
                <a:gridCol w="7385414"/>
              </a:tblGrid>
              <a:tr h="357105">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PRS category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Where it is in The Eyes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r>
              <a:tr h="588202">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①</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Supervised / unsupervised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Supervised: RGB-D YOLOv8 fine-tuned on 40k labelled synthetic frames. Unsupervised: DBSCAN on residual depth for objects with no CAD model (planned, above MVP)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88202">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②</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ML / DL techniques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Multimodal RGB-D YOLOv8n with COCO stem inflation; FoundationPose transformers; ONNX Runtime CUDA deployment in 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88202">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③</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Hybrid / ensemble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Two per-view estimators fused by confidence weighting and a disagreement gate; learned front end with a classical EKF back end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88202">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④</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Intelligent sensing / sense-making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Calibrated, hardware-synced dual RGB-D; poses turned into relations and PDDL facts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7" name="Text 4"/>
          <p:cNvSpPr/>
          <p:nvPr/>
        </p:nvSpPr>
        <p:spPr>
          <a:xfrm>
            <a:off x="812767" y="6286581"/>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8" name="Text 5"/>
          <p:cNvSpPr/>
          <p:nvPr/>
        </p:nvSpPr>
        <p:spPr>
          <a:xfrm>
            <a:off x="10739107" y="6286581"/>
            <a:ext cx="690844"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11 / 18</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05 · PROGRESS</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What is built and measured</a:t>
            </a:r>
            <a:endParaRPr lang="en-US" sz="3200" dirty="0"/>
          </a:p>
        </p:txBody>
      </p:sp>
      <p:sp>
        <p:nvSpPr>
          <p:cNvPr id="4" name="Shape 2"/>
          <p:cNvSpPr/>
          <p:nvPr/>
        </p:nvSpPr>
        <p:spPr>
          <a:xfrm>
            <a:off x="11376058" y="1879451"/>
            <a:ext cx="0" cy="3229818"/>
          </a:xfrm>
          <a:prstGeom prst="line">
            <a:avLst/>
          </a:prstGeom>
          <a:noFill/>
          <a:ln w="6350">
            <a:solidFill>
              <a:srgbClr val="D3D6D2"/>
            </a:solidFill>
            <a:prstDash val="solid"/>
          </a:ln>
        </p:spPr>
      </p:sp>
      <p:sp>
        <p:nvSpPr>
          <p:cNvPr id="5" name="Shape 3"/>
          <p:cNvSpPr/>
          <p:nvPr/>
        </p:nvSpPr>
        <p:spPr>
          <a:xfrm>
            <a:off x="812767" y="5106095"/>
            <a:ext cx="10566466" cy="0"/>
          </a:xfrm>
          <a:prstGeom prst="line">
            <a:avLst/>
          </a:prstGeom>
          <a:noFill/>
          <a:ln w="6350">
            <a:solidFill>
              <a:srgbClr val="D3D6D2"/>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350" y="1890035"/>
          <a:ext cx="10550591" cy="3213943"/>
        </p:xfrm>
        <a:graphic>
          <a:graphicData uri="http://schemas.openxmlformats.org/drawingml/2006/table">
            <a:tbl>
              <a:tblPr/>
              <a:tblGrid>
                <a:gridCol w="3165177"/>
                <a:gridCol w="2954165"/>
                <a:gridCol w="4431248"/>
              </a:tblGrid>
              <a:tr h="357105">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Item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Status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Key figure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Dual-camera capture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Verified on hardware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30 fps each, hardware-synced, pair jitter 0.14–1.1 ms σ</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Calibration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Recalibrated 20 Sep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Reprojection RMSE 0.260 / 0.318 px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Sensor error budget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Measured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2–4 mm depth noise at working distance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RGB-D detector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Trained, deployed in 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mAP@0.5:0.95 0.957 (synthetic val); 3.6 ms per view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Fusion, 8-arm ablation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Run on synthetic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Second camera: recall 0.352 → 0.485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Whole chain, live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Run on hardware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p50 51.7 ms per frame pair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Objects, trays, markers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Printed, callipered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Markers 40.0 mm; first ground-truth stills solved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Real ADD-S, mAP, predicates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Not measured yet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Needs the scored capture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7" name="Text 4"/>
          <p:cNvSpPr/>
          <p:nvPr/>
        </p:nvSpPr>
        <p:spPr>
          <a:xfrm>
            <a:off x="812767" y="6286581"/>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8" name="Text 5"/>
          <p:cNvSpPr/>
          <p:nvPr/>
        </p:nvSpPr>
        <p:spPr>
          <a:xfrm>
            <a:off x="10739107" y="6286581"/>
            <a:ext cx="690844"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12 / 18</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05 · PROGRESS · REAL</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The whole chain, live on the rig</a:t>
            </a:r>
            <a:endParaRPr lang="en-US" sz="3200" dirty="0"/>
          </a:p>
        </p:txBody>
      </p:sp>
      <p:sp>
        <p:nvSpPr>
          <p:cNvPr id="4" name="Shape 2"/>
          <p:cNvSpPr/>
          <p:nvPr/>
        </p:nvSpPr>
        <p:spPr>
          <a:xfrm>
            <a:off x="812767" y="1879451"/>
            <a:ext cx="6102284" cy="3683000"/>
          </a:xfrm>
          <a:prstGeom prst="roundRect">
            <a:avLst>
              <a:gd name="adj" fmla="val 2069"/>
            </a:avLst>
          </a:prstGeom>
          <a:solidFill>
            <a:srgbClr val="14202B"/>
          </a:solidFill>
          <a:ln/>
        </p:spPr>
      </p:sp>
      <p:pic>
        <p:nvPicPr>
          <p:cNvPr id="5" name="Image 0" descr="Live console: both camera views with detection boxes and fused pose axes on the printed bowl, bottle and cube; a plan view of the table; the scene graph with three objects on table_01 and the emitted PDDL facts">    </p:cNvPr>
          <p:cNvPicPr>
            <a:picLocks noChangeAspect="1"/>
          </p:cNvPicPr>
          <p:nvPr/>
        </p:nvPicPr>
        <p:blipFill>
          <a:blip r:embed="rId1"/>
          <a:srcRect l="-19" r="-19" t="0" b="0"/>
          <a:stretch/>
        </p:blipFill>
        <p:spPr>
          <a:xfrm>
            <a:off x="812767" y="1879451"/>
            <a:ext cx="6102284" cy="3683000"/>
          </a:xfrm>
          <a:prstGeom prst="roundRect">
            <a:avLst>
              <a:gd name="adj" fmla="val 2069"/>
            </a:avLst>
          </a:prstGeom>
        </p:spPr>
      </p:pic>
      <p:sp>
        <p:nvSpPr>
          <p:cNvPr id="6" name="Text 3"/>
          <p:cNvSpPr/>
          <p:nvPr/>
        </p:nvSpPr>
        <p:spPr>
          <a:xfrm>
            <a:off x="7219817" y="1879451"/>
            <a:ext cx="4284198"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36B"/>
                </a:solidFill>
                <a:latin typeface="IBM Plex Mono" pitchFamily="34" charset="0"/>
                <a:ea typeface="IBM Plex Mono" pitchFamily="34" charset="-122"/>
                <a:cs typeface="IBM Plex Mono" pitchFamily="34" charset="-120"/>
              </a:rPr>
              <a:t>LIVE · 29 SEP · REAL POSE ESTIMATOR</a:t>
            </a:r>
            <a:endParaRPr lang="en-US" sz="1200" dirty="0"/>
          </a:p>
        </p:txBody>
      </p:sp>
      <p:sp>
        <p:nvSpPr>
          <p:cNvPr id="7" name="Shape 4"/>
          <p:cNvSpPr/>
          <p:nvPr/>
        </p:nvSpPr>
        <p:spPr>
          <a:xfrm>
            <a:off x="7238867" y="2219771"/>
            <a:ext cx="0" cy="782174"/>
          </a:xfrm>
          <a:prstGeom prst="line">
            <a:avLst/>
          </a:prstGeom>
          <a:noFill/>
          <a:ln w="38100">
            <a:solidFill>
              <a:srgbClr val="0E736B"/>
            </a:solidFill>
            <a:prstDash val="solid"/>
          </a:ln>
        </p:spPr>
      </p:sp>
      <p:sp>
        <p:nvSpPr>
          <p:cNvPr id="8" name="Text 5"/>
          <p:cNvSpPr/>
          <p:nvPr/>
        </p:nvSpPr>
        <p:spPr>
          <a:xfrm>
            <a:off x="7409242" y="2245153"/>
            <a:ext cx="40890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36B"/>
                </a:solidFill>
                <a:latin typeface="Space Grotesk" pitchFamily="34" charset="0"/>
                <a:ea typeface="Space Grotesk" pitchFamily="34" charset="-122"/>
                <a:cs typeface="Space Grotesk" pitchFamily="34" charset="-120"/>
              </a:rPr>
              <a:t>Top: both cameras</a:t>
            </a:r>
            <a:endParaRPr lang="en-US" sz="1600" dirty="0"/>
          </a:p>
        </p:txBody>
      </p:sp>
      <p:sp>
        <p:nvSpPr>
          <p:cNvPr id="9" name="Text 6"/>
          <p:cNvSpPr/>
          <p:nvPr/>
        </p:nvSpPr>
        <p:spPr>
          <a:xfrm>
            <a:off x="7409242" y="2514364"/>
            <a:ext cx="4089090"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detections with class and score; fused pose drawn back into each view as axes</a:t>
            </a:r>
            <a:endParaRPr lang="en-US" sz="1300" dirty="0"/>
          </a:p>
        </p:txBody>
      </p:sp>
      <p:sp>
        <p:nvSpPr>
          <p:cNvPr id="10" name="Shape 7"/>
          <p:cNvSpPr/>
          <p:nvPr/>
        </p:nvSpPr>
        <p:spPr>
          <a:xfrm>
            <a:off x="7238867" y="3128944"/>
            <a:ext cx="0" cy="782174"/>
          </a:xfrm>
          <a:prstGeom prst="line">
            <a:avLst/>
          </a:prstGeom>
          <a:noFill/>
          <a:ln w="38100">
            <a:solidFill>
              <a:srgbClr val="0E736B"/>
            </a:solidFill>
            <a:prstDash val="solid"/>
          </a:ln>
        </p:spPr>
      </p:sp>
      <p:sp>
        <p:nvSpPr>
          <p:cNvPr id="11" name="Text 8"/>
          <p:cNvSpPr/>
          <p:nvPr/>
        </p:nvSpPr>
        <p:spPr>
          <a:xfrm>
            <a:off x="7409242" y="3154325"/>
            <a:ext cx="40890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36B"/>
                </a:solidFill>
                <a:latin typeface="Space Grotesk" pitchFamily="34" charset="0"/>
                <a:ea typeface="Space Grotesk" pitchFamily="34" charset="-122"/>
                <a:cs typeface="Space Grotesk" pitchFamily="34" charset="-120"/>
              </a:rPr>
              <a:t>Bottom left: plan view</a:t>
            </a:r>
            <a:endParaRPr lang="en-US" sz="1600" dirty="0"/>
          </a:p>
        </p:txBody>
      </p:sp>
      <p:sp>
        <p:nvSpPr>
          <p:cNvPr id="12" name="Text 9"/>
          <p:cNvSpPr/>
          <p:nvPr/>
        </p:nvSpPr>
        <p:spPr>
          <a:xfrm>
            <a:off x="7409242" y="3423543"/>
            <a:ext cx="4089090"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fused objects in the table frame, with the camera positions</a:t>
            </a:r>
            <a:endParaRPr lang="en-US" sz="1300" dirty="0"/>
          </a:p>
        </p:txBody>
      </p:sp>
      <p:sp>
        <p:nvSpPr>
          <p:cNvPr id="13" name="Shape 10"/>
          <p:cNvSpPr/>
          <p:nvPr/>
        </p:nvSpPr>
        <p:spPr>
          <a:xfrm>
            <a:off x="7238867" y="4038116"/>
            <a:ext cx="0" cy="551077"/>
          </a:xfrm>
          <a:prstGeom prst="line">
            <a:avLst/>
          </a:prstGeom>
          <a:noFill/>
          <a:ln w="38100">
            <a:solidFill>
              <a:srgbClr val="0E736B"/>
            </a:solidFill>
            <a:prstDash val="solid"/>
          </a:ln>
        </p:spPr>
      </p:sp>
      <p:sp>
        <p:nvSpPr>
          <p:cNvPr id="14" name="Text 11"/>
          <p:cNvSpPr/>
          <p:nvPr/>
        </p:nvSpPr>
        <p:spPr>
          <a:xfrm>
            <a:off x="7409242" y="4063504"/>
            <a:ext cx="40890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36B"/>
                </a:solidFill>
                <a:latin typeface="Space Grotesk" pitchFamily="34" charset="0"/>
                <a:ea typeface="Space Grotesk" pitchFamily="34" charset="-122"/>
                <a:cs typeface="Space Grotesk" pitchFamily="34" charset="-120"/>
              </a:rPr>
              <a:t>Bottom right: scene graph</a:t>
            </a:r>
            <a:endParaRPr lang="en-US" sz="1600" dirty="0"/>
          </a:p>
        </p:txBody>
      </p:sp>
      <p:sp>
        <p:nvSpPr>
          <p:cNvPr id="15" name="Text 12"/>
          <p:cNvSpPr/>
          <p:nvPr/>
        </p:nvSpPr>
        <p:spPr>
          <a:xfrm>
            <a:off x="7409242" y="4332715"/>
            <a:ext cx="4089090"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3 objects on table_01; 6 PDDL facts emitted</a:t>
            </a:r>
            <a:endParaRPr lang="en-US" sz="1300" dirty="0"/>
          </a:p>
        </p:txBody>
      </p:sp>
      <p:sp>
        <p:nvSpPr>
          <p:cNvPr id="16" name="Text 13"/>
          <p:cNvSpPr/>
          <p:nvPr/>
        </p:nvSpPr>
        <p:spPr>
          <a:xfrm>
            <a:off x="7219817" y="4716196"/>
            <a:ext cx="428419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Median 90 ms per frame pair over 200 live pairs. Detector still synthetic-only: other frames show a false cube on the monitor. No ground truth in this run.</a:t>
            </a:r>
            <a:endParaRPr lang="en-US" sz="1200" dirty="0"/>
          </a:p>
        </p:txBody>
      </p:sp>
      <p:sp>
        <p:nvSpPr>
          <p:cNvPr id="17" name="Text 14"/>
          <p:cNvSpPr/>
          <p:nvPr/>
        </p:nvSpPr>
        <p:spPr>
          <a:xfrm>
            <a:off x="812767" y="6286581"/>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18" name="Text 15"/>
          <p:cNvSpPr/>
          <p:nvPr/>
        </p:nvSpPr>
        <p:spPr>
          <a:xfrm>
            <a:off x="10739107" y="6286581"/>
            <a:ext cx="690844"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13 / 18</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05 · PROGRESS</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Detector: depth did not help on synthetic data</a:t>
            </a:r>
            <a:endParaRPr lang="en-US" sz="3200" dirty="0"/>
          </a:p>
        </p:txBody>
      </p:sp>
      <p:sp>
        <p:nvSpPr>
          <p:cNvPr id="4" name="Text 2"/>
          <p:cNvSpPr/>
          <p:nvPr/>
        </p:nvSpPr>
        <p:spPr>
          <a:xfrm>
            <a:off x="812767" y="1879451"/>
            <a:ext cx="3924300" cy="444434"/>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E736B"/>
                </a:solidFill>
                <a:latin typeface="Space Grotesk" pitchFamily="34" charset="0"/>
                <a:ea typeface="Space Grotesk" pitchFamily="34" charset="-122"/>
                <a:cs typeface="Space Grotesk" pitchFamily="34" charset="-120"/>
              </a:rPr>
              <a:t>0.957</a:t>
            </a:r>
            <a:endParaRPr lang="en-US" sz="3000" dirty="0"/>
          </a:p>
        </p:txBody>
      </p:sp>
      <p:sp>
        <p:nvSpPr>
          <p:cNvPr id="5" name="Text 3"/>
          <p:cNvSpPr/>
          <p:nvPr/>
        </p:nvSpPr>
        <p:spPr>
          <a:xfrm>
            <a:off x="812767" y="2323864"/>
            <a:ext cx="3924300"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mAP@0.5:0.95 on 9,988 synthetic validation frames</a:t>
            </a:r>
            <a:endParaRPr lang="en-US" sz="1300" dirty="0"/>
          </a:p>
        </p:txBody>
      </p:sp>
      <p:sp>
        <p:nvSpPr>
          <p:cNvPr id="6" name="Text 4"/>
          <p:cNvSpPr/>
          <p:nvPr/>
        </p:nvSpPr>
        <p:spPr>
          <a:xfrm>
            <a:off x="812767" y="2938444"/>
            <a:ext cx="3924300" cy="444434"/>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E736B"/>
                </a:solidFill>
                <a:latin typeface="Space Grotesk" pitchFamily="34" charset="0"/>
                <a:ea typeface="Space Grotesk" pitchFamily="34" charset="-122"/>
                <a:cs typeface="Space Grotesk" pitchFamily="34" charset="-120"/>
              </a:rPr>
              <a:t>+0.00076</a:t>
            </a:r>
            <a:endParaRPr lang="en-US" sz="3000" dirty="0"/>
          </a:p>
        </p:txBody>
      </p:sp>
      <p:sp>
        <p:nvSpPr>
          <p:cNvPr id="7" name="Text 5"/>
          <p:cNvSpPr/>
          <p:nvPr/>
        </p:nvSpPr>
        <p:spPr>
          <a:xfrm>
            <a:off x="812767" y="3382863"/>
            <a:ext cx="3924300"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what depth adds over an RGB-only twin: a </a:t>
            </a:r>
            <a:r>
              <a:rPr lang="en-US" sz="1300" b="1" dirty="0">
                <a:solidFill>
                  <a:srgbClr val="3E4A54"/>
                </a:solidFill>
                <a:latin typeface="IBM Plex Sans" pitchFamily="34" charset="0"/>
                <a:ea typeface="IBM Plex Sans" pitchFamily="34" charset="-122"/>
                <a:cs typeface="IBM Plex Sans" pitchFamily="34" charset="-120"/>
              </a:rPr>
              <a:t>negative result</a:t>
            </a:r>
            <a:r>
              <a:rPr lang="en-US" sz="1300" dirty="0">
                <a:solidFill>
                  <a:srgbClr val="3E4A54"/>
                </a:solidFill>
                <a:latin typeface="IBM Plex Sans" pitchFamily="34" charset="0"/>
                <a:ea typeface="IBM Plex Sans" pitchFamily="34" charset="-122"/>
                <a:cs typeface="IBM Plex Sans" pitchFamily="34" charset="-120"/>
              </a:rPr>
              <a:t>, reported as one</a:t>
            </a:r>
            <a:endParaRPr lang="en-US" sz="1300" dirty="0"/>
          </a:p>
        </p:txBody>
      </p:sp>
      <p:sp>
        <p:nvSpPr>
          <p:cNvPr id="8" name="Text 6"/>
          <p:cNvSpPr/>
          <p:nvPr/>
        </p:nvSpPr>
        <p:spPr>
          <a:xfrm>
            <a:off x="812767" y="3997437"/>
            <a:ext cx="3924300" cy="444434"/>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E736B"/>
                </a:solidFill>
                <a:latin typeface="Space Grotesk" pitchFamily="34" charset="0"/>
                <a:ea typeface="Space Grotesk" pitchFamily="34" charset="-122"/>
                <a:cs typeface="Space Grotesk" pitchFamily="34" charset="-120"/>
              </a:rPr>
              <a:t>+0.032</a:t>
            </a:r>
            <a:endParaRPr lang="en-US" sz="3000" dirty="0"/>
          </a:p>
        </p:txBody>
      </p:sp>
      <p:sp>
        <p:nvSpPr>
          <p:cNvPr id="9" name="Text 7"/>
          <p:cNvSpPr/>
          <p:nvPr/>
        </p:nvSpPr>
        <p:spPr>
          <a:xfrm>
            <a:off x="812767" y="4441856"/>
            <a:ext cx="3924300" cy="71869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what 8× more training data adds (5k → 40k frames): headroom is in localisation, and depth does not reach it</a:t>
            </a:r>
            <a:endParaRPr lang="en-US" sz="1300" dirty="0"/>
          </a:p>
        </p:txBody>
      </p:sp>
      <p:sp>
        <p:nvSpPr>
          <p:cNvPr id="10" name="Shape 8"/>
          <p:cNvSpPr/>
          <p:nvPr/>
        </p:nvSpPr>
        <p:spPr>
          <a:xfrm>
            <a:off x="5029150" y="1879451"/>
            <a:ext cx="6350000" cy="3638517"/>
          </a:xfrm>
          <a:prstGeom prst="roundRect">
            <a:avLst>
              <a:gd name="adj" fmla="val 2094"/>
            </a:avLst>
          </a:prstGeom>
          <a:solidFill>
            <a:srgbClr val="FBFAF6"/>
          </a:solidFill>
          <a:ln/>
        </p:spPr>
      </p:sp>
      <p:pic>
        <p:nvPicPr>
          <p:cNvPr id="11" name="Image 0" descr="Grid of 16 synthetic validation renders with predicted boxes for mustard_bottle, bowl and red_cube, scores 0.6 to 1.0">    </p:cNvPr>
          <p:cNvPicPr>
            <a:picLocks noChangeAspect="1"/>
          </p:cNvPicPr>
          <p:nvPr/>
        </p:nvPicPr>
        <p:blipFill>
          <a:blip r:embed="rId1"/>
          <a:srcRect l="0" r="0" t="-7" b="-7"/>
          <a:stretch/>
        </p:blipFill>
        <p:spPr>
          <a:xfrm>
            <a:off x="5029150" y="1879451"/>
            <a:ext cx="6350000" cy="3638517"/>
          </a:xfrm>
          <a:prstGeom prst="roundRect">
            <a:avLst>
              <a:gd name="adj" fmla="val 2094"/>
            </a:avLst>
          </a:prstGeom>
        </p:spPr>
      </p:pic>
      <p:sp>
        <p:nvSpPr>
          <p:cNvPr id="12" name="Text 9"/>
          <p:cNvSpPr/>
          <p:nvPr/>
        </p:nvSpPr>
        <p:spPr>
          <a:xfrm>
            <a:off x="5029150" y="5568733"/>
            <a:ext cx="65405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Synthetic validation renders with predicted boxes. Real-capture mAP not measured yet.</a:t>
            </a:r>
            <a:endParaRPr lang="en-US" sz="1200" dirty="0"/>
          </a:p>
        </p:txBody>
      </p:sp>
      <p:sp>
        <p:nvSpPr>
          <p:cNvPr id="13" name="Text 10"/>
          <p:cNvSpPr/>
          <p:nvPr/>
        </p:nvSpPr>
        <p:spPr>
          <a:xfrm>
            <a:off x="812767" y="6286581"/>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14" name="Text 11"/>
          <p:cNvSpPr/>
          <p:nvPr/>
        </p:nvSpPr>
        <p:spPr>
          <a:xfrm>
            <a:off x="10739107" y="6286581"/>
            <a:ext cx="690844"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14 / 18</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7111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05 · PROGRESS · SYNTHETIC</a:t>
            </a:r>
            <a:endParaRPr lang="en-US" sz="1200" dirty="0"/>
          </a:p>
        </p:txBody>
      </p:sp>
      <p:sp>
        <p:nvSpPr>
          <p:cNvPr id="3" name="Text 1"/>
          <p:cNvSpPr/>
          <p:nvPr/>
        </p:nvSpPr>
        <p:spPr>
          <a:xfrm>
            <a:off x="812767" y="117847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Fusion ablation: what each part adds</a:t>
            </a:r>
            <a:endParaRPr lang="en-US" sz="3200" dirty="0"/>
          </a:p>
        </p:txBody>
      </p:sp>
      <p:sp>
        <p:nvSpPr>
          <p:cNvPr id="4" name="Shape 2"/>
          <p:cNvSpPr/>
          <p:nvPr/>
        </p:nvSpPr>
        <p:spPr>
          <a:xfrm>
            <a:off x="7413592" y="1879451"/>
            <a:ext cx="0" cy="3229818"/>
          </a:xfrm>
          <a:prstGeom prst="line">
            <a:avLst/>
          </a:prstGeom>
          <a:noFill/>
          <a:ln w="6350">
            <a:solidFill>
              <a:srgbClr val="D3D6D2"/>
            </a:solidFill>
            <a:prstDash val="solid"/>
          </a:ln>
        </p:spPr>
      </p:sp>
      <p:sp>
        <p:nvSpPr>
          <p:cNvPr id="5" name="Shape 3"/>
          <p:cNvSpPr/>
          <p:nvPr/>
        </p:nvSpPr>
        <p:spPr>
          <a:xfrm>
            <a:off x="812767" y="5106095"/>
            <a:ext cx="6604000" cy="0"/>
          </a:xfrm>
          <a:prstGeom prst="line">
            <a:avLst/>
          </a:prstGeom>
          <a:noFill/>
          <a:ln w="6350">
            <a:solidFill>
              <a:srgbClr val="D3D6D2"/>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350" y="1890035"/>
          <a:ext cx="6588125" cy="3213943"/>
        </p:xfrm>
        <a:graphic>
          <a:graphicData uri="http://schemas.openxmlformats.org/drawingml/2006/table">
            <a:tbl>
              <a:tblPr/>
              <a:tblGrid>
                <a:gridCol w="1976437"/>
                <a:gridCol w="724694"/>
                <a:gridCol w="922337"/>
                <a:gridCol w="790575"/>
                <a:gridCol w="1119981"/>
                <a:gridCol w="1054100"/>
              </a:tblGrid>
              <a:tr h="357105">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Arm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Views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Policy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Filter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ADD-S mm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Recall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cam_front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raw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9.97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0.352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cam_over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raw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10.37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0.152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naive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naive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raw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9.00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0.485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gated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gated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raw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9.01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0.483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cam_front+ekf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EKF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6.62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0.855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cam_over+ekf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EKF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7.85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0.318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naive+ekf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naive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EKF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6.28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0.902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fused (system)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gated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EKF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6.29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0.902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r>
            </a:tbl>
          </a:graphicData>
        </a:graphic>
      </p:graphicFrame>
      <p:sp>
        <p:nvSpPr>
          <p:cNvPr id="7" name="Text 4"/>
          <p:cNvSpPr/>
          <p:nvPr/>
        </p:nvSpPr>
        <p:spPr>
          <a:xfrm>
            <a:off x="812767" y="5185420"/>
            <a:ext cx="68021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Synthetic input: 200 frames, 3 objects, 10 mm/axis noise per view, two objects hidden from cam_over on 3 of 4 frames. Recall at 0.1 × diameter.</a:t>
            </a:r>
            <a:endParaRPr lang="en-US" sz="1200" dirty="0"/>
          </a:p>
        </p:txBody>
      </p:sp>
      <p:sp>
        <p:nvSpPr>
          <p:cNvPr id="8" name="Shape 5"/>
          <p:cNvSpPr/>
          <p:nvPr/>
        </p:nvSpPr>
        <p:spPr>
          <a:xfrm>
            <a:off x="7791351" y="1879451"/>
            <a:ext cx="0" cy="551077"/>
          </a:xfrm>
          <a:prstGeom prst="line">
            <a:avLst/>
          </a:prstGeom>
          <a:noFill/>
          <a:ln w="38100">
            <a:solidFill>
              <a:srgbClr val="0E736B"/>
            </a:solidFill>
            <a:prstDash val="solid"/>
          </a:ln>
        </p:spPr>
      </p:sp>
      <p:sp>
        <p:nvSpPr>
          <p:cNvPr id="9" name="Text 6"/>
          <p:cNvSpPr/>
          <p:nvPr/>
        </p:nvSpPr>
        <p:spPr>
          <a:xfrm>
            <a:off x="7961726" y="1904833"/>
            <a:ext cx="35200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36B"/>
                </a:solidFill>
                <a:latin typeface="Space Grotesk" pitchFamily="34" charset="0"/>
                <a:ea typeface="Space Grotesk" pitchFamily="34" charset="-122"/>
                <a:cs typeface="Space Grotesk" pitchFamily="34" charset="-120"/>
              </a:rPr>
              <a:t>Second camera</a:t>
            </a:r>
            <a:endParaRPr lang="en-US" sz="1600" dirty="0"/>
          </a:p>
        </p:txBody>
      </p:sp>
      <p:sp>
        <p:nvSpPr>
          <p:cNvPr id="10" name="Text 7"/>
          <p:cNvSpPr/>
          <p:nvPr/>
        </p:nvSpPr>
        <p:spPr>
          <a:xfrm>
            <a:off x="7961726" y="2174044"/>
            <a:ext cx="3520032"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recall 0.352 → 0.485</a:t>
            </a:r>
            <a:endParaRPr lang="en-US" sz="1300" dirty="0"/>
          </a:p>
        </p:txBody>
      </p:sp>
      <p:sp>
        <p:nvSpPr>
          <p:cNvPr id="11" name="Shape 8"/>
          <p:cNvSpPr/>
          <p:nvPr/>
        </p:nvSpPr>
        <p:spPr>
          <a:xfrm>
            <a:off x="7791351" y="2582912"/>
            <a:ext cx="0" cy="551077"/>
          </a:xfrm>
          <a:prstGeom prst="line">
            <a:avLst/>
          </a:prstGeom>
          <a:noFill/>
          <a:ln w="38100">
            <a:solidFill>
              <a:srgbClr val="0E736B"/>
            </a:solidFill>
            <a:prstDash val="solid"/>
          </a:ln>
        </p:spPr>
      </p:sp>
      <p:sp>
        <p:nvSpPr>
          <p:cNvPr id="12" name="Text 9"/>
          <p:cNvSpPr/>
          <p:nvPr/>
        </p:nvSpPr>
        <p:spPr>
          <a:xfrm>
            <a:off x="7961726" y="2608294"/>
            <a:ext cx="35200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36B"/>
                </a:solidFill>
                <a:latin typeface="Space Grotesk" pitchFamily="34" charset="0"/>
                <a:ea typeface="Space Grotesk" pitchFamily="34" charset="-122"/>
                <a:cs typeface="Space Grotesk" pitchFamily="34" charset="-120"/>
              </a:rPr>
              <a:t>EKF</a:t>
            </a:r>
            <a:endParaRPr lang="en-US" sz="1600" dirty="0"/>
          </a:p>
        </p:txBody>
      </p:sp>
      <p:sp>
        <p:nvSpPr>
          <p:cNvPr id="13" name="Text 10"/>
          <p:cNvSpPr/>
          <p:nvPr/>
        </p:nvSpPr>
        <p:spPr>
          <a:xfrm>
            <a:off x="7961726" y="2877505"/>
            <a:ext cx="3520032"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about 2.7 mm lower ADD-S</a:t>
            </a:r>
            <a:endParaRPr lang="en-US" sz="1300" dirty="0"/>
          </a:p>
        </p:txBody>
      </p:sp>
      <p:sp>
        <p:nvSpPr>
          <p:cNvPr id="14" name="Shape 11"/>
          <p:cNvSpPr/>
          <p:nvPr/>
        </p:nvSpPr>
        <p:spPr>
          <a:xfrm>
            <a:off x="7791351" y="3286373"/>
            <a:ext cx="0" cy="1244368"/>
          </a:xfrm>
          <a:prstGeom prst="line">
            <a:avLst/>
          </a:prstGeom>
          <a:noFill/>
          <a:ln w="38100">
            <a:solidFill>
              <a:srgbClr val="0E736B"/>
            </a:solidFill>
            <a:prstDash val="solid"/>
          </a:ln>
        </p:spPr>
      </p:sp>
      <p:sp>
        <p:nvSpPr>
          <p:cNvPr id="15" name="Text 12"/>
          <p:cNvSpPr/>
          <p:nvPr/>
        </p:nvSpPr>
        <p:spPr>
          <a:xfrm>
            <a:off x="7961726" y="3311754"/>
            <a:ext cx="35200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36B"/>
                </a:solidFill>
                <a:latin typeface="Space Grotesk" pitchFamily="34" charset="0"/>
                <a:ea typeface="Space Grotesk" pitchFamily="34" charset="-122"/>
                <a:cs typeface="Space Grotesk" pitchFamily="34" charset="-120"/>
              </a:rPr>
              <a:t>Gate policy</a:t>
            </a:r>
            <a:endParaRPr lang="en-US" sz="1600" dirty="0"/>
          </a:p>
        </p:txBody>
      </p:sp>
      <p:sp>
        <p:nvSpPr>
          <p:cNvPr id="16" name="Text 13"/>
          <p:cNvSpPr/>
          <p:nvPr/>
        </p:nvSpPr>
        <p:spPr>
          <a:xfrm>
            <a:off x="7961726" y="3580966"/>
            <a:ext cx="3520032" cy="94978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4"/>
                </a:solidFill>
                <a:latin typeface="IBM Plex Sans" pitchFamily="34" charset="0"/>
                <a:ea typeface="IBM Plex Sans" pitchFamily="34" charset="-122"/>
                <a:cs typeface="IBM Plex Sans" pitchFamily="34" charset="-120"/>
              </a:rPr>
              <a:t>0.01 mm, as expected: symmetric noise gives it nothing to reject. It can only win on a confidently wrong view, which is what real captures test.</a:t>
            </a:r>
            <a:endParaRPr lang="en-US" sz="1300" dirty="0"/>
          </a:p>
        </p:txBody>
      </p:sp>
      <p:sp>
        <p:nvSpPr>
          <p:cNvPr id="17" name="Text 14"/>
          <p:cNvSpPr/>
          <p:nvPr/>
        </p:nvSpPr>
        <p:spPr>
          <a:xfrm>
            <a:off x="812767" y="6286581"/>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18" name="Text 15"/>
          <p:cNvSpPr/>
          <p:nvPr/>
        </p:nvSpPr>
        <p:spPr>
          <a:xfrm>
            <a:off x="10739107" y="6286581"/>
            <a:ext cx="690844"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15 / 18</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6286574"/>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3" name="Text 1"/>
          <p:cNvSpPr/>
          <p:nvPr/>
        </p:nvSpPr>
        <p:spPr>
          <a:xfrm>
            <a:off x="10739107" y="6286574"/>
            <a:ext cx="690844"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16 / 18</a:t>
            </a:r>
            <a:endParaRPr lang="en-US" sz="1200" dirty="0"/>
          </a:p>
        </p:txBody>
      </p:sp>
      <p:sp>
        <p:nvSpPr>
          <p:cNvPr id="4" name="Text 2"/>
          <p:cNvSpPr/>
          <p:nvPr/>
        </p:nvSpPr>
        <p:spPr>
          <a:xfrm>
            <a:off x="812808" y="711150"/>
            <a:ext cx="1088337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05 · PROGRESS · REAL</a:t>
            </a:r>
            <a:endParaRPr lang="en-US" sz="1200" dirty="0"/>
          </a:p>
        </p:txBody>
      </p:sp>
      <p:sp>
        <p:nvSpPr>
          <p:cNvPr id="5" name="Text 3"/>
          <p:cNvSpPr/>
          <p:nvPr/>
        </p:nvSpPr>
        <p:spPr>
          <a:xfrm>
            <a:off x="812767" y="1174750"/>
            <a:ext cx="10883374"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First real data from the rig</a:t>
            </a:r>
            <a:endParaRPr lang="en-US" sz="3200" dirty="0"/>
          </a:p>
        </p:txBody>
      </p:sp>
      <p:sp>
        <p:nvSpPr>
          <p:cNvPr id="6" name="Shape 4"/>
          <p:cNvSpPr/>
          <p:nvPr/>
        </p:nvSpPr>
        <p:spPr>
          <a:xfrm>
            <a:off x="819117" y="1879600"/>
            <a:ext cx="5168916" cy="3238450"/>
          </a:xfrm>
          <a:prstGeom prst="roundRect">
            <a:avLst>
              <a:gd name="adj" fmla="val 2941"/>
            </a:avLst>
          </a:prstGeom>
          <a:solidFill>
            <a:srgbClr val="FBFAF6"/>
          </a:solidFill>
          <a:ln w="12700">
            <a:solidFill>
              <a:srgbClr val="D3D6D2"/>
            </a:solidFill>
            <a:prstDash val="solid"/>
          </a:ln>
        </p:spPr>
      </p:sp>
      <p:sp>
        <p:nvSpPr>
          <p:cNvPr id="7" name="Text 5"/>
          <p:cNvSpPr/>
          <p:nvPr/>
        </p:nvSpPr>
        <p:spPr>
          <a:xfrm>
            <a:off x="1026501" y="2061592"/>
            <a:ext cx="4896773"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36B"/>
                </a:solidFill>
                <a:latin typeface="IBM Plex Mono" pitchFamily="34" charset="0"/>
                <a:ea typeface="IBM Plex Mono" pitchFamily="34" charset="-122"/>
                <a:cs typeface="IBM Plex Mono" pitchFamily="34" charset="-120"/>
              </a:rPr>
              <a:t>WHOLE CHAIN, LIVE · 6 SEP</a:t>
            </a:r>
            <a:endParaRPr lang="en-US" sz="1200" dirty="0"/>
          </a:p>
        </p:txBody>
      </p:sp>
      <p:sp>
        <p:nvSpPr>
          <p:cNvPr id="8" name="Text 6"/>
          <p:cNvSpPr/>
          <p:nvPr/>
        </p:nvSpPr>
        <p:spPr>
          <a:xfrm>
            <a:off x="1026501" y="2351063"/>
            <a:ext cx="4896773"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22C"/>
                </a:solidFill>
                <a:latin typeface="Space Grotesk" pitchFamily="34" charset="0"/>
                <a:ea typeface="Space Grotesk" pitchFamily="34" charset="-122"/>
                <a:cs typeface="Space Grotesk" pitchFamily="34" charset="-120"/>
              </a:rPr>
              <a:t>Printed cube, 150 frame pairs</a:t>
            </a:r>
            <a:endParaRPr lang="en-US" sz="1700" dirty="0"/>
          </a:p>
        </p:txBody>
      </p:sp>
      <p:sp>
        <p:nvSpPr>
          <p:cNvPr id="9" name="Text 7"/>
          <p:cNvSpPr/>
          <p:nvPr/>
        </p:nvSpPr>
        <p:spPr>
          <a:xfrm>
            <a:off x="1026501" y="2686261"/>
            <a:ext cx="4896773" cy="1180885"/>
          </a:xfrm>
          <a:prstGeom prst="rect">
            <a:avLst/>
          </a:prstGeom>
          <a:noFill/>
          <a:ln/>
        </p:spPr>
        <p:txBody>
          <a:bodyPr wrap="square" lIns="0" tIns="0" rIns="0" bIns="0" rtlCol="0" anchor="t">
            <a:normAutofit/>
          </a:bodyPr>
          <a:lstStyle/>
          <a:p>
            <a:pPr algn="l" marL="198120" indent="-168656">
              <a:lnSpc>
                <a:spcPts val="1820"/>
              </a:lnSpc>
              <a:buSzPct val="100000"/>
              <a:buChar char="•"/>
            </a:pPr>
            <a:r>
              <a:rPr lang="en-US" sz="1300" dirty="0">
                <a:solidFill>
                  <a:srgbClr val="3E4A54"/>
                </a:solidFill>
                <a:latin typeface="IBM Plex Sans" pitchFamily="34" charset="0"/>
                <a:ea typeface="IBM Plex Sans" pitchFamily="34" charset="-122"/>
                <a:cs typeface="IBM Plex Sans" pitchFamily="34" charset="-120"/>
              </a:rPr>
              <a:t>Two views fused into one object on </a:t>
            </a:r>
            <a:r>
              <a:rPr lang="en-US" sz="1300" b="1" dirty="0">
                <a:solidFill>
                  <a:srgbClr val="3E4A54"/>
                </a:solidFill>
                <a:latin typeface="IBM Plex Sans" pitchFamily="34" charset="0"/>
                <a:ea typeface="IBM Plex Sans" pitchFamily="34" charset="-122"/>
                <a:cs typeface="IBM Plex Sans" pitchFamily="34" charset="-120"/>
              </a:rPr>
              <a:t>150 / 150</a:t>
            </a:r>
            <a:r>
              <a:rPr lang="en-US" sz="1300" dirty="0">
                <a:solidFill>
                  <a:srgbClr val="3E4A54"/>
                </a:solidFill>
                <a:latin typeface="IBM Plex Sans" pitchFamily="34" charset="0"/>
                <a:ea typeface="IBM Plex Sans" pitchFamily="34" charset="-122"/>
                <a:cs typeface="IBM Plex Sans" pitchFamily="34" charset="-120"/>
              </a:rPr>
              <a:t> pairs</a:t>
            </a:r>
            <a:endParaRPr lang="en-US" sz="1300" dirty="0"/>
          </a:p>
          <a:p>
            <a:pPr algn="l" marL="198120" indent="-168656">
              <a:lnSpc>
                <a:spcPts val="1820"/>
              </a:lnSpc>
              <a:buSzPct val="100000"/>
              <a:buChar char="•"/>
            </a:pPr>
            <a:r>
              <a:rPr lang="en-US" sz="1300" dirty="0">
                <a:solidFill>
                  <a:srgbClr val="3E4A54"/>
                </a:solidFill>
                <a:latin typeface="IBM Plex Sans" pitchFamily="34" charset="0"/>
                <a:ea typeface="IBM Plex Sans" pitchFamily="34" charset="-122"/>
                <a:cs typeface="IBM Plex Sans" pitchFamily="34" charset="-120"/>
              </a:rPr>
              <a:t>Per-view disagreement </a:t>
            </a:r>
            <a:r>
              <a:rPr lang="en-US" sz="1300" b="1" dirty="0">
                <a:solidFill>
                  <a:srgbClr val="3E4A54"/>
                </a:solidFill>
                <a:latin typeface="IBM Plex Sans" pitchFamily="34" charset="0"/>
                <a:ea typeface="IBM Plex Sans" pitchFamily="34" charset="-122"/>
                <a:cs typeface="IBM Plex Sans" pitchFamily="34" charset="-120"/>
              </a:rPr>
              <a:t>11 mm</a:t>
            </a:r>
            <a:r>
              <a:rPr lang="en-US" sz="1300" dirty="0">
                <a:solidFill>
                  <a:srgbClr val="3E4A54"/>
                </a:solidFill>
                <a:latin typeface="IBM Plex Sans" pitchFamily="34" charset="0"/>
                <a:ea typeface="IBM Plex Sans" pitchFamily="34" charset="-122"/>
                <a:cs typeface="IBM Plex Sans" pitchFamily="34" charset="-120"/>
              </a:rPr>
              <a:t>, well under the 50 mm gate</a:t>
            </a:r>
            <a:endParaRPr lang="en-US" sz="1300" dirty="0"/>
          </a:p>
          <a:p>
            <a:pPr algn="l" marL="198120" indent="-168656">
              <a:lnSpc>
                <a:spcPts val="1820"/>
              </a:lnSpc>
              <a:buSzPct val="100000"/>
              <a:buChar char="•"/>
            </a:pPr>
            <a:r>
              <a:rPr lang="en-US" sz="1300" dirty="0">
                <a:solidFill>
                  <a:srgbClr val="3E4A54"/>
                </a:solidFill>
                <a:latin typeface="IBM Plex Sans" pitchFamily="34" charset="0"/>
                <a:ea typeface="IBM Plex Sans" pitchFamily="34" charset="-122"/>
                <a:cs typeface="IBM Plex Sans" pitchFamily="34" charset="-120"/>
              </a:rPr>
              <a:t>Fused pose stable to 0.1 mm sd, at 22.3 pairs/s</a:t>
            </a:r>
            <a:endParaRPr lang="en-US" sz="1300" dirty="0"/>
          </a:p>
          <a:p>
            <a:pPr algn="l" marL="198120" indent="-168656">
              <a:lnSpc>
                <a:spcPts val="1820"/>
              </a:lnSpc>
              <a:buSzPct val="100000"/>
              <a:buChar char="•"/>
            </a:pPr>
            <a:r>
              <a:rPr lang="en-US" sz="1300" dirty="0">
                <a:solidFill>
                  <a:srgbClr val="3E4A54"/>
                </a:solidFill>
                <a:latin typeface="IBM Plex Sans" pitchFamily="34" charset="0"/>
                <a:ea typeface="IBM Plex Sans" pitchFamily="34" charset="-122"/>
                <a:cs typeface="IBM Plex Sans" pitchFamily="34" charset="-120"/>
              </a:rPr>
              <a:t>Fixed boxes stood in for the detector. One observation, not an ADD-S number</a:t>
            </a:r>
            <a:endParaRPr lang="en-US" sz="1300" dirty="0"/>
          </a:p>
        </p:txBody>
      </p:sp>
      <p:sp>
        <p:nvSpPr>
          <p:cNvPr id="10" name="Shape 8"/>
          <p:cNvSpPr/>
          <p:nvPr/>
        </p:nvSpPr>
        <p:spPr>
          <a:xfrm>
            <a:off x="6203884" y="1879600"/>
            <a:ext cx="5168916" cy="3238450"/>
          </a:xfrm>
          <a:prstGeom prst="roundRect">
            <a:avLst>
              <a:gd name="adj" fmla="val 2941"/>
            </a:avLst>
          </a:prstGeom>
          <a:solidFill>
            <a:srgbClr val="FBFAF6"/>
          </a:solidFill>
          <a:ln w="12700">
            <a:solidFill>
              <a:srgbClr val="D3D6D2"/>
            </a:solidFill>
            <a:prstDash val="solid"/>
          </a:ln>
        </p:spPr>
      </p:sp>
      <p:sp>
        <p:nvSpPr>
          <p:cNvPr id="11" name="Text 9"/>
          <p:cNvSpPr/>
          <p:nvPr/>
        </p:nvSpPr>
        <p:spPr>
          <a:xfrm>
            <a:off x="6411268" y="2061592"/>
            <a:ext cx="4896773" cy="236819"/>
          </a:xfrm>
          <a:prstGeom prst="rect">
            <a:avLst/>
          </a:prstGeom>
          <a:noFill/>
          <a:ln/>
        </p:spPr>
        <p:txBody>
          <a:bodyPr wrap="square" lIns="0" tIns="0" rIns="0" bIns="0" rtlCol="0" anchor="t">
            <a:normAutofit/>
          </a:bodyPr>
          <a:lstStyle/>
          <a:p>
            <a:pPr algn="l" indent="0" marL="0">
              <a:lnSpc>
                <a:spcPts val="1675"/>
              </a:lnSpc>
              <a:buNone/>
            </a:pPr>
            <a:r>
              <a:rPr lang="en-US" sz="1196" spc="50" kern="0" dirty="0">
                <a:solidFill>
                  <a:srgbClr val="0E736B"/>
                </a:solidFill>
                <a:latin typeface="IBM Plex Mono" pitchFamily="34" charset="0"/>
                <a:ea typeface="IBM Plex Mono" pitchFamily="34" charset="-122"/>
                <a:cs typeface="IBM Plex Mono" pitchFamily="34" charset="-120"/>
              </a:rPr>
              <a:t>GROUND-TRUTH TRAYS · 20 SEP</a:t>
            </a:r>
            <a:endParaRPr lang="en-US" sz="1196" dirty="0"/>
          </a:p>
        </p:txBody>
      </p:sp>
      <p:sp>
        <p:nvSpPr>
          <p:cNvPr id="12" name="Text 10"/>
          <p:cNvSpPr/>
          <p:nvPr/>
        </p:nvSpPr>
        <p:spPr>
          <a:xfrm>
            <a:off x="6411268" y="2349165"/>
            <a:ext cx="4896773" cy="282211"/>
          </a:xfrm>
          <a:prstGeom prst="rect">
            <a:avLst/>
          </a:prstGeom>
          <a:noFill/>
          <a:ln/>
        </p:spPr>
        <p:txBody>
          <a:bodyPr wrap="square" lIns="0" tIns="0" rIns="0" bIns="0" rtlCol="0" anchor="t">
            <a:normAutofit/>
          </a:bodyPr>
          <a:lstStyle/>
          <a:p>
            <a:pPr algn="l" indent="0" marL="0">
              <a:lnSpc>
                <a:spcPts val="2021"/>
              </a:lnSpc>
              <a:buNone/>
            </a:pPr>
            <a:r>
              <a:rPr lang="en-US" sz="1684" b="1" dirty="0">
                <a:solidFill>
                  <a:srgbClr val="16222C"/>
                </a:solidFill>
                <a:latin typeface="Space Grotesk" pitchFamily="34" charset="0"/>
                <a:ea typeface="Space Grotesk" pitchFamily="34" charset="-122"/>
                <a:cs typeface="Space Grotesk" pitchFamily="34" charset="-120"/>
              </a:rPr>
              <a:t>First real stills solved</a:t>
            </a:r>
            <a:endParaRPr lang="en-US" sz="1684" dirty="0"/>
          </a:p>
        </p:txBody>
      </p:sp>
      <p:sp>
        <p:nvSpPr>
          <p:cNvPr id="13" name="Text 11"/>
          <p:cNvSpPr/>
          <p:nvPr/>
        </p:nvSpPr>
        <p:spPr>
          <a:xfrm>
            <a:off x="6411268" y="2682131"/>
            <a:ext cx="4896773" cy="483625"/>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3E4A54"/>
                </a:solidFill>
                <a:latin typeface="IBM Plex Sans" pitchFamily="34" charset="0"/>
                <a:ea typeface="IBM Plex Sans" pitchFamily="34" charset="-122"/>
                <a:cs typeface="IBM Plex Sans" pitchFamily="34" charset="-120"/>
              </a:rPr>
              <a:t>All 8 tray markers decode in both views; 152 / 160 observations pass the gates. Cross-camera disagreement of the tray pose:</a:t>
            </a:r>
            <a:endParaRPr lang="en-US" sz="1292" dirty="0"/>
          </a:p>
        </p:txBody>
      </p:sp>
      <p:sp>
        <p:nvSpPr>
          <p:cNvPr id="14" name="Shape 12"/>
          <p:cNvSpPr/>
          <p:nvPr/>
        </p:nvSpPr>
        <p:spPr>
          <a:xfrm>
            <a:off x="11162242" y="3216498"/>
            <a:ext cx="0" cy="1431892"/>
          </a:xfrm>
          <a:prstGeom prst="line">
            <a:avLst/>
          </a:prstGeom>
          <a:noFill/>
          <a:ln w="6350">
            <a:solidFill>
              <a:srgbClr val="D3D6D2"/>
            </a:solidFill>
            <a:prstDash val="solid"/>
          </a:ln>
        </p:spPr>
      </p:sp>
      <p:sp>
        <p:nvSpPr>
          <p:cNvPr id="15" name="Shape 13"/>
          <p:cNvSpPr/>
          <p:nvPr/>
        </p:nvSpPr>
        <p:spPr>
          <a:xfrm>
            <a:off x="6411268" y="4645215"/>
            <a:ext cx="4754149" cy="0"/>
          </a:xfrm>
          <a:prstGeom prst="line">
            <a:avLst/>
          </a:prstGeom>
          <a:noFill/>
          <a:ln w="6350">
            <a:solidFill>
              <a:srgbClr val="D3D6D2"/>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21851" y="3227082"/>
          <a:ext cx="4738274" cy="1416017"/>
        </p:xfrm>
        <a:graphic>
          <a:graphicData uri="http://schemas.openxmlformats.org/drawingml/2006/table">
            <a:tbl>
              <a:tblPr/>
              <a:tblGrid>
                <a:gridCol w="2842964"/>
                <a:gridCol w="1895310"/>
              </a:tblGrid>
              <a:tr h="353963">
                <a:tc>
                  <a:txBody>
                    <a:bodyPr/>
                    <a:lstStyle/>
                    <a:p>
                      <a:pPr indent="0" marL="0">
                        <a:lnSpc>
                          <a:spcPts val="1803"/>
                        </a:lnSpc>
                        <a:buNone/>
                      </a:pPr>
                      <a:r>
                        <a:rPr lang="en-US" sz="1288" b="1" dirty="0">
                          <a:solidFill>
                            <a:srgbClr val="16222C"/>
                          </a:solidFill>
                          <a:latin typeface="IBM Plex Sans" pitchFamily="34" charset="0"/>
                          <a:ea typeface="IBM Plex Sans" pitchFamily="34" charset="-122"/>
                          <a:cs typeface="IBM Plex Sans" pitchFamily="34" charset="-120"/>
                        </a:rPr>
                        <a:t>Tray</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8C7C4"/>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03"/>
                        </a:lnSpc>
                        <a:buNone/>
                      </a:pPr>
                      <a:r>
                        <a:rPr lang="en-US" sz="1288" b="1" dirty="0">
                          <a:solidFill>
                            <a:srgbClr val="16222C"/>
                          </a:solidFill>
                          <a:latin typeface="IBM Plex Sans" pitchFamily="34" charset="0"/>
                          <a:ea typeface="IBM Plex Sans" pitchFamily="34" charset="-122"/>
                          <a:cs typeface="IBM Plex Sans" pitchFamily="34" charset="-120"/>
                        </a:rPr>
                        <a:t>Cross-camera</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r>
              <a:tr h="353963">
                <a:tc>
                  <a:txBody>
                    <a:bodyPr/>
                    <a:lstStyle/>
                    <a:p>
                      <a:pPr indent="0" marL="0">
                        <a:lnSpc>
                          <a:spcPts val="1803"/>
                        </a:lnSpc>
                        <a:buNone/>
                      </a:pPr>
                      <a:r>
                        <a:rPr lang="en-US" sz="1288" dirty="0">
                          <a:solidFill>
                            <a:srgbClr val="16222C"/>
                          </a:solidFill>
                          <a:latin typeface="IBM Plex Sans" pitchFamily="34" charset="0"/>
                          <a:ea typeface="IBM Plex Sans" pitchFamily="34" charset="-122"/>
                          <a:cs typeface="IBM Plex Sans" pitchFamily="34" charset="-120"/>
                        </a:rPr>
                        <a:t>bowl</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803"/>
                        </a:lnSpc>
                        <a:buNone/>
                      </a:pPr>
                      <a:r>
                        <a:rPr lang="en-US" sz="1288" dirty="0">
                          <a:solidFill>
                            <a:srgbClr val="16222C"/>
                          </a:solidFill>
                          <a:latin typeface="IBM Plex Sans" pitchFamily="34" charset="0"/>
                          <a:ea typeface="IBM Plex Sans" pitchFamily="34" charset="-122"/>
                          <a:cs typeface="IBM Plex Sans" pitchFamily="34" charset="-120"/>
                        </a:rPr>
                        <a:t>2.71 mm</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54046">
                <a:tc>
                  <a:txBody>
                    <a:bodyPr/>
                    <a:lstStyle/>
                    <a:p>
                      <a:pPr indent="0" marL="0">
                        <a:lnSpc>
                          <a:spcPts val="1803"/>
                        </a:lnSpc>
                        <a:buNone/>
                      </a:pPr>
                      <a:r>
                        <a:rPr lang="en-US" sz="1288" dirty="0">
                          <a:solidFill>
                            <a:srgbClr val="16222C"/>
                          </a:solidFill>
                          <a:latin typeface="IBM Plex Sans" pitchFamily="34" charset="0"/>
                          <a:ea typeface="IBM Plex Sans" pitchFamily="34" charset="-122"/>
                          <a:cs typeface="IBM Plex Sans" pitchFamily="34" charset="-120"/>
                        </a:rPr>
                        <a:t>mustard_bottle</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803"/>
                        </a:lnSpc>
                        <a:buNone/>
                      </a:pPr>
                      <a:r>
                        <a:rPr lang="en-US" sz="1288" dirty="0">
                          <a:solidFill>
                            <a:srgbClr val="16222C"/>
                          </a:solidFill>
                          <a:latin typeface="IBM Plex Sans" pitchFamily="34" charset="0"/>
                          <a:ea typeface="IBM Plex Sans" pitchFamily="34" charset="-122"/>
                          <a:cs typeface="IBM Plex Sans" pitchFamily="34" charset="-120"/>
                        </a:rPr>
                        <a:t>3.78 mm</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54046">
                <a:tc>
                  <a:txBody>
                    <a:bodyPr/>
                    <a:lstStyle/>
                    <a:p>
                      <a:pPr indent="0" marL="0">
                        <a:lnSpc>
                          <a:spcPts val="1803"/>
                        </a:lnSpc>
                        <a:buNone/>
                      </a:pPr>
                      <a:r>
                        <a:rPr lang="en-US" sz="1288" dirty="0">
                          <a:solidFill>
                            <a:srgbClr val="16222C"/>
                          </a:solidFill>
                          <a:latin typeface="IBM Plex Sans" pitchFamily="34" charset="0"/>
                          <a:ea typeface="IBM Plex Sans" pitchFamily="34" charset="-122"/>
                          <a:cs typeface="IBM Plex Sans" pitchFamily="34" charset="-120"/>
                        </a:rPr>
                        <a:t>red_cube</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803"/>
                        </a:lnSpc>
                        <a:buNone/>
                      </a:pPr>
                      <a:r>
                        <a:rPr lang="en-US" sz="1288" dirty="0">
                          <a:solidFill>
                            <a:srgbClr val="16222C"/>
                          </a:solidFill>
                          <a:latin typeface="IBM Plex Sans" pitchFamily="34" charset="0"/>
                          <a:ea typeface="IBM Plex Sans" pitchFamily="34" charset="-122"/>
                          <a:cs typeface="IBM Plex Sans" pitchFamily="34" charset="-120"/>
                        </a:rPr>
                        <a:t>7.55 mm</a:t>
                      </a:r>
                      <a:endParaRPr lang="en-US" sz="1288" dirty="0">
                        <a:latin typeface="IBM Plex Sans" charset="0"/>
                        <a:ea typeface="IBM Plex Sans" charset="0"/>
                        <a:cs typeface="IBM Plex Sans" charset="0"/>
                      </a:endParaRPr>
                    </a:p>
                  </a:txBody>
                  <a:tcPr marL="57243" marR="57243" marT="57243" marB="57243"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17" name="Text 14"/>
          <p:cNvSpPr/>
          <p:nvPr/>
        </p:nvSpPr>
        <p:spPr>
          <a:xfrm>
            <a:off x="6411268" y="4724549"/>
            <a:ext cx="4896773" cy="236901"/>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5E6973"/>
                </a:solidFill>
                <a:latin typeface="IBM Plex Sans" pitchFamily="34" charset="0"/>
                <a:ea typeface="IBM Plex Sans" pitchFamily="34" charset="-122"/>
                <a:cs typeface="IBM Plex Sans" pitchFamily="34" charset="-120"/>
              </a:rPr>
              <a:t>The cube is weakest, against an ADD-S threshold of about 8.6 mm.</a:t>
            </a:r>
            <a:endParaRPr lang="en-US" sz="1196" dirty="0"/>
          </a:p>
        </p:txBody>
      </p:sp>
      <p:sp>
        <p:nvSpPr>
          <p:cNvPr id="18" name="Text 15"/>
          <p:cNvSpPr/>
          <p:nvPr/>
        </p:nvSpPr>
        <p:spPr>
          <a:xfrm>
            <a:off x="812767" y="5384763"/>
            <a:ext cx="10883374" cy="48759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4A54"/>
                </a:solidFill>
                <a:latin typeface="IBM Plex Sans" pitchFamily="34" charset="0"/>
                <a:ea typeface="IBM Plex Sans" pitchFamily="34" charset="-122"/>
                <a:cs typeface="IBM Plex Sans" pitchFamily="34" charset="-120"/>
              </a:rPr>
              <a:t>Seen only on real data:</a:t>
            </a:r>
            <a:r>
              <a:rPr lang="en-US" sz="1300" dirty="0">
                <a:solidFill>
                  <a:srgbClr val="3E4A54"/>
                </a:solidFill>
                <a:latin typeface="IBM Plex Sans" pitchFamily="34" charset="0"/>
                <a:ea typeface="IBM Plex Sans" pitchFamily="34" charset="-122"/>
                <a:cs typeface="IBM Plex Sans" pitchFamily="34" charset="-120"/>
              </a:rPr>
              <a:t> FoundationPose scores vary 0.75–0.92, so confidence weighting has something to weight; real frames are much darker than the training set (82–93% of pixels below its 1st percentile).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767" y="6286574"/>
            <a:ext cx="2794275"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Sans" pitchFamily="34" charset="0"/>
                <a:ea typeface="IBM Plex Sans" pitchFamily="34" charset="-122"/>
                <a:cs typeface="IBM Plex Sans" pitchFamily="34" charset="-120"/>
              </a:rPr>
              <a:t>The Eyes · Group 12 · First Presentation</a:t>
            </a:r>
            <a:endParaRPr lang="en-US" sz="1200" dirty="0"/>
          </a:p>
        </p:txBody>
      </p:sp>
      <p:sp>
        <p:nvSpPr>
          <p:cNvPr id="3" name="Text 1"/>
          <p:cNvSpPr/>
          <p:nvPr/>
        </p:nvSpPr>
        <p:spPr>
          <a:xfrm>
            <a:off x="10739107" y="6286574"/>
            <a:ext cx="690844" cy="24128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3"/>
                </a:solidFill>
                <a:latin typeface="IBM Plex Mono" pitchFamily="34" charset="0"/>
                <a:ea typeface="IBM Plex Mono" pitchFamily="34" charset="-122"/>
                <a:cs typeface="IBM Plex Mono" pitchFamily="34" charset="-120"/>
              </a:rPr>
              <a:t>17 / 18</a:t>
            </a:r>
            <a:endParaRPr lang="en-US" sz="1200" dirty="0"/>
          </a:p>
        </p:txBody>
      </p:sp>
      <p:sp>
        <p:nvSpPr>
          <p:cNvPr id="4" name="Text 2"/>
          <p:cNvSpPr/>
          <p:nvPr/>
        </p:nvSpPr>
        <p:spPr>
          <a:xfrm>
            <a:off x="812767" y="711150"/>
            <a:ext cx="1088337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E736B"/>
                </a:solidFill>
                <a:latin typeface="IBM Plex Mono" pitchFamily="34" charset="0"/>
                <a:ea typeface="IBM Plex Mono" pitchFamily="34" charset="-122"/>
                <a:cs typeface="IBM Plex Mono" pitchFamily="34" charset="-120"/>
              </a:rPr>
              <a:t>06 · NEXT</a:t>
            </a:r>
            <a:endParaRPr lang="en-US" sz="1200" dirty="0"/>
          </a:p>
        </p:txBody>
      </p:sp>
      <p:sp>
        <p:nvSpPr>
          <p:cNvPr id="5" name="Text 3"/>
          <p:cNvSpPr/>
          <p:nvPr/>
        </p:nvSpPr>
        <p:spPr>
          <a:xfrm>
            <a:off x="812767" y="1181026"/>
            <a:ext cx="10883374"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22C"/>
                </a:solidFill>
                <a:latin typeface="Space Grotesk" pitchFamily="34" charset="0"/>
                <a:ea typeface="Space Grotesk" pitchFamily="34" charset="-122"/>
                <a:cs typeface="Space Grotesk" pitchFamily="34" charset="-120"/>
              </a:rPr>
              <a:t>Next: the occlusion ablation on real captures</a:t>
            </a:r>
            <a:endParaRPr lang="en-US" sz="3200" dirty="0"/>
          </a:p>
        </p:txBody>
      </p:sp>
      <p:sp>
        <p:nvSpPr>
          <p:cNvPr id="6" name="Text 4"/>
          <p:cNvSpPr/>
          <p:nvPr/>
        </p:nvSpPr>
        <p:spPr>
          <a:xfrm>
            <a:off x="812767" y="1879526"/>
            <a:ext cx="6331255" cy="3486150"/>
          </a:xfrm>
          <a:prstGeom prst="rect">
            <a:avLst/>
          </a:prstGeom>
          <a:noFill/>
          <a:ln/>
        </p:spPr>
        <p:txBody>
          <a:bodyPr wrap="square" lIns="0" tIns="0" rIns="0" bIns="0" rtlCol="0" anchor="t">
            <a:normAutofit/>
          </a:bodyPr>
          <a:lstStyle/>
          <a:p>
            <a:pPr algn="l" marL="213360" indent="-213360">
              <a:lnSpc>
                <a:spcPts val="1960"/>
              </a:lnSpc>
              <a:buSzPct val="100000"/>
              <a:buFontTx/>
              <a:buAutoNum type="arabicPeriod" startAt="1"/>
            </a:pPr>
            <a:r>
              <a:rPr lang="en-US" sz="1400" dirty="0">
                <a:solidFill>
                  <a:srgbClr val="16222C"/>
                </a:solidFill>
                <a:latin typeface="IBM Plex Sans" pitchFamily="34" charset="0"/>
                <a:ea typeface="IBM Plex Sans" pitchFamily="34" charset="-122"/>
                <a:cs typeface="IBM Plex Sans" pitchFamily="34" charset="-120"/>
              </a:rPr>
              <a:t>Fix the lighting: diffuse the lamp, which clips markers, and narrow the exposure gap</a:t>
            </a:r>
            <a:endParaRPr lang="en-US" sz="1400" dirty="0"/>
          </a:p>
          <a:p>
            <a:pPr algn="l" marL="213360" indent="-213360">
              <a:lnSpc>
                <a:spcPts val="1960"/>
              </a:lnSpc>
              <a:buSzPct val="100000"/>
              <a:buFontTx/>
              <a:buAutoNum type="arabicPeriod" startAt="1"/>
            </a:pPr>
            <a:r>
              <a:rPr lang="en-US" sz="1400" dirty="0">
                <a:solidFill>
                  <a:srgbClr val="16222C"/>
                </a:solidFill>
                <a:latin typeface="IBM Plex Sans" pitchFamily="34" charset="0"/>
                <a:ea typeface="IBM Plex Sans" pitchFamily="34" charset="-122"/>
                <a:cs typeface="IBM Plex Sans" pitchFamily="34" charset="-120"/>
              </a:rPr>
              <a:t>Fit-check bottle and bowl; check tray flatness</a:t>
            </a:r>
            <a:endParaRPr lang="en-US" sz="1400" dirty="0"/>
          </a:p>
          <a:p>
            <a:pPr algn="l" marL="213360" indent="-213360">
              <a:lnSpc>
                <a:spcPts val="1960"/>
              </a:lnSpc>
              <a:buSzPct val="100000"/>
              <a:buFontTx/>
              <a:buAutoNum type="arabicPeriod" startAt="1"/>
            </a:pPr>
            <a:r>
              <a:rPr lang="en-US" sz="1400" dirty="0">
                <a:solidFill>
                  <a:srgbClr val="16222C"/>
                </a:solidFill>
                <a:latin typeface="IBM Plex Sans" pitchFamily="34" charset="0"/>
                <a:ea typeface="IBM Plex Sans" pitchFamily="34" charset="-122"/>
                <a:cs typeface="IBM Plex Sans" pitchFamily="34" charset="-120"/>
              </a:rPr>
              <a:t>Capture 10 scenes × 300 synchronised pairs</a:t>
            </a:r>
            <a:endParaRPr lang="en-US" sz="1400" dirty="0"/>
          </a:p>
          <a:p>
            <a:pPr algn="l" marL="213360" indent="-213360">
              <a:lnSpc>
                <a:spcPts val="1960"/>
              </a:lnSpc>
              <a:buSzPct val="100000"/>
              <a:buFontTx/>
              <a:buAutoNum type="arabicPeriod" startAt="1"/>
            </a:pPr>
            <a:r>
              <a:rPr lang="en-US" sz="1400" dirty="0">
                <a:solidFill>
                  <a:srgbClr val="16222C"/>
                </a:solidFill>
                <a:latin typeface="IBM Plex Sans" pitchFamily="34" charset="0"/>
                <a:ea typeface="IBM Plex Sans" pitchFamily="34" charset="-122"/>
                <a:cs typeface="IBM Plex Sans" pitchFamily="34" charset="-120"/>
              </a:rPr>
              <a:t>Score real mAP, ADD-S single vs fused, predicate accuracy</a:t>
            </a:r>
            <a:endParaRPr lang="en-US" sz="1400" dirty="0"/>
          </a:p>
          <a:p>
            <a:pPr algn="l" marL="213360" indent="-213360">
              <a:lnSpc>
                <a:spcPts val="1960"/>
              </a:lnSpc>
              <a:buSzPct val="100000"/>
              <a:buFontTx/>
              <a:buAutoNum type="arabicPeriod" startAt="1"/>
            </a:pPr>
            <a:r>
              <a:rPr lang="en-US" sz="1400" dirty="0">
                <a:solidFill>
                  <a:srgbClr val="16222C"/>
                </a:solidFill>
                <a:latin typeface="IBM Plex Sans" pitchFamily="34" charset="0"/>
                <a:ea typeface="IBM Plex Sans" pitchFamily="34" charset="-122"/>
                <a:cs typeface="IBM Plex Sans" pitchFamily="34" charset="-120"/>
              </a:rPr>
              <a:t>Occlusion ablation: 8 arms, 95% bootstrap CI over scenes</a:t>
            </a:r>
            <a:endParaRPr lang="en-US" sz="1400" dirty="0"/>
          </a:p>
          <a:p>
            <a:pPr algn="l" marL="213360" indent="-213360">
              <a:lnSpc>
                <a:spcPts val="1960"/>
              </a:lnSpc>
              <a:buSzPct val="100000"/>
              <a:buFontTx/>
              <a:buAutoNum type="arabicPeriod" startAt="1"/>
            </a:pPr>
            <a:r>
              <a:rPr lang="en-US" sz="1400" dirty="0">
                <a:solidFill>
                  <a:srgbClr val="16222C"/>
                </a:solidFill>
                <a:latin typeface="IBM Plex Sans" pitchFamily="34" charset="0"/>
                <a:ea typeface="IBM Plex Sans" pitchFamily="34" charset="-122"/>
                <a:cs typeface="IBM Plex Sans" pitchFamily="34" charset="-120"/>
              </a:rPr>
              <a:t>Final system, report and video: 31 Oct</a:t>
            </a:r>
            <a:endParaRPr lang="en-US" sz="1400" dirty="0"/>
          </a:p>
        </p:txBody>
      </p:sp>
      <p:sp>
        <p:nvSpPr>
          <p:cNvPr id="7" name="Shape 5"/>
          <p:cNvSpPr/>
          <p:nvPr/>
        </p:nvSpPr>
        <p:spPr>
          <a:xfrm>
            <a:off x="11375975" y="1879526"/>
            <a:ext cx="0" cy="2032496"/>
          </a:xfrm>
          <a:prstGeom prst="line">
            <a:avLst/>
          </a:prstGeom>
          <a:noFill/>
          <a:ln w="6350">
            <a:solidFill>
              <a:srgbClr val="D3D6D2"/>
            </a:solidFill>
            <a:prstDash val="solid"/>
          </a:ln>
        </p:spPr>
      </p:sp>
      <p:sp>
        <p:nvSpPr>
          <p:cNvPr id="8" name="Shape 6"/>
          <p:cNvSpPr/>
          <p:nvPr/>
        </p:nvSpPr>
        <p:spPr>
          <a:xfrm>
            <a:off x="7315150" y="3908847"/>
            <a:ext cx="4064000" cy="0"/>
          </a:xfrm>
          <a:prstGeom prst="line">
            <a:avLst/>
          </a:prstGeom>
          <a:noFill/>
          <a:ln w="6350">
            <a:solidFill>
              <a:srgbClr val="D3D6D2"/>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25734" y="1890109"/>
          <a:ext cx="4048125" cy="2016621"/>
        </p:xfrm>
        <a:graphic>
          <a:graphicData uri="http://schemas.openxmlformats.org/drawingml/2006/table">
            <a:tbl>
              <a:tblPr/>
              <a:tblGrid>
                <a:gridCol w="1457325"/>
                <a:gridCol w="809625"/>
                <a:gridCol w="1781175"/>
              </a:tblGrid>
              <a:tr h="357105">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Tier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Scenes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b="1" dirty="0">
                          <a:solidFill>
                            <a:srgbClr val="16222C"/>
                          </a:solidFill>
                          <a:latin typeface="IBM Plex Sans" pitchFamily="34" charset="0"/>
                          <a:ea typeface="IBM Plex Sans" pitchFamily="34" charset="-122"/>
                          <a:cs typeface="IBM Plex Sans" pitchFamily="34" charset="-120"/>
                        </a:rPr>
                        <a:t>Tests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T1 isolated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single-view floor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0BCB9"/>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88202">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T2 clutter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detection, association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T3 partial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confidence weighting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7105">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T4 full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c>
                  <a:txBody>
                    <a:bodyPr/>
                    <a:lstStyle/>
                    <a:p>
                      <a:pPr indent="0" marL="0">
                        <a:lnSpc>
                          <a:spcPts val="1820"/>
                        </a:lnSpc>
                        <a:buNone/>
                      </a:pPr>
                      <a:r>
                        <a:rPr lang="en-US" sz="1300" dirty="0">
                          <a:solidFill>
                            <a:srgbClr val="16222C"/>
                          </a:solidFill>
                          <a:latin typeface="IBM Plex Sans" pitchFamily="34" charset="0"/>
                          <a:ea typeface="IBM Plex Sans" pitchFamily="34" charset="-122"/>
                          <a:cs typeface="IBM Plex Sans" pitchFamily="34" charset="-120"/>
                        </a:rPr>
                        <a:t>the multi-view test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CB9"/>
                      </a:solidFill>
                      <a:prstDash val="solid"/>
                      <a:round/>
                      <a:headEnd type="none" w="med" len="med"/>
                      <a:tailEnd type="none" w="med" len="med"/>
                    </a:lnL>
                    <a:lnR w="12700" cap="flat" cmpd="sng" algn="ctr">
                      <a:solidFill>
                        <a:srgbClr val="B0BCB9"/>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0BCB9"/>
                      </a:solidFill>
                      <a:prstDash val="solid"/>
                      <a:round/>
                      <a:headEnd type="none" w="med" len="med"/>
                      <a:tailEnd type="none" w="med" len="med"/>
                    </a:lnB>
                    <a:solidFill>
                      <a:srgbClr val="DCEBE8"/>
                    </a:solidFill>
                  </a:tcPr>
                </a:tc>
              </a:tr>
            </a:tbl>
          </a:graphicData>
        </a:graphic>
      </p:graphicFrame>
      <p:sp>
        <p:nvSpPr>
          <p:cNvPr id="10" name="Shape 7"/>
          <p:cNvSpPr/>
          <p:nvPr/>
        </p:nvSpPr>
        <p:spPr>
          <a:xfrm>
            <a:off x="7321500" y="4044876"/>
            <a:ext cx="4051383" cy="1289050"/>
          </a:xfrm>
          <a:prstGeom prst="roundRect">
            <a:avLst>
              <a:gd name="adj" fmla="val 7389"/>
            </a:avLst>
          </a:prstGeom>
          <a:solidFill>
            <a:srgbClr val="FBFAF6"/>
          </a:solidFill>
          <a:ln w="12700">
            <a:solidFill>
              <a:srgbClr val="D3D6D2"/>
            </a:solidFill>
            <a:prstDash val="solid"/>
          </a:ln>
        </p:spPr>
      </p:sp>
      <p:sp>
        <p:nvSpPr>
          <p:cNvPr id="11" name="Text 8"/>
          <p:cNvSpPr/>
          <p:nvPr/>
        </p:nvSpPr>
        <p:spPr>
          <a:xfrm>
            <a:off x="7528884" y="4226880"/>
            <a:ext cx="3745714" cy="94978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4A54"/>
                </a:solidFill>
                <a:latin typeface="IBM Plex Sans" pitchFamily="34" charset="0"/>
                <a:ea typeface="IBM Plex Sans" pitchFamily="34" charset="-122"/>
                <a:cs typeface="IBM Plex Sans" pitchFamily="34" charset="-120"/>
              </a:rPr>
              <a:t>Stated in advance:</a:t>
            </a:r>
            <a:r>
              <a:rPr lang="en-US" sz="1300" dirty="0">
                <a:solidFill>
                  <a:srgbClr val="3E4A54"/>
                </a:solidFill>
                <a:latin typeface="IBM Plex Sans" pitchFamily="34" charset="0"/>
                <a:ea typeface="IBM Plex Sans" pitchFamily="34" charset="-122"/>
                <a:cs typeface="IBM Plex Sans" pitchFamily="34" charset="-120"/>
              </a:rPr>
              <a:t> if gated fusion does not beat naive on real captures, the second camera buys recall and the EKF buys accuracy, and that is the reported result.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CCABD"/>
                </a:solidFill>
                <a:latin typeface="IBM Plex Mono" pitchFamily="34" charset="0"/>
                <a:ea typeface="IBM Plex Mono" pitchFamily="34" charset="-122"/>
                <a:cs typeface="IBM Plex Mono" pitchFamily="34" charset="-120"/>
              </a:rPr>
              <a:t>THE EYES · GROUP 12</a:t>
            </a:r>
            <a:endParaRPr lang="en-US" sz="1200" dirty="0"/>
          </a:p>
        </p:txBody>
      </p:sp>
      <p:sp>
        <p:nvSpPr>
          <p:cNvPr id="3" name="Text 1"/>
          <p:cNvSpPr/>
          <p:nvPr/>
        </p:nvSpPr>
        <p:spPr>
          <a:xfrm>
            <a:off x="812767" y="1903760"/>
            <a:ext cx="10883460"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F4F2EC"/>
                </a:solidFill>
                <a:latin typeface="Space Grotesk" pitchFamily="34" charset="0"/>
                <a:ea typeface="Space Grotesk" pitchFamily="34" charset="-122"/>
                <a:cs typeface="Space Grotesk" pitchFamily="34" charset="-120"/>
              </a:rPr>
              <a:t>Questions</a:t>
            </a:r>
            <a:endParaRPr lang="en-US" sz="7000" dirty="0"/>
          </a:p>
        </p:txBody>
      </p:sp>
      <p:sp>
        <p:nvSpPr>
          <p:cNvPr id="4" name="Text 2"/>
          <p:cNvSpPr/>
          <p:nvPr/>
        </p:nvSpPr>
        <p:spPr>
          <a:xfrm>
            <a:off x="812767" y="3046760"/>
            <a:ext cx="9156700" cy="30991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6CCABD"/>
                </a:solidFill>
                <a:latin typeface="IBM Plex Sans" pitchFamily="34" charset="0"/>
                <a:ea typeface="IBM Plex Sans" pitchFamily="34" charset="-122"/>
                <a:cs typeface="IBM Plex Sans" pitchFamily="34" charset="-120"/>
              </a:rPr>
              <a:t>Built:</a:t>
            </a:r>
            <a:r>
              <a:rPr lang="en-US" sz="1600" dirty="0">
                <a:solidFill>
                  <a:srgbClr val="C8D3D8"/>
                </a:solidFill>
                <a:latin typeface="IBM Plex Sans" pitchFamily="34" charset="0"/>
                <a:ea typeface="IBM Plex Sans" pitchFamily="34" charset="-122"/>
                <a:cs typeface="IBM Plex Sans" pitchFamily="34" charset="-120"/>
              </a:rPr>
              <a:t> dual-camera rig, RGB-D detector, C++ fusion and scene graph, live end-to-end runner.</a:t>
            </a:r>
            <a:endParaRPr lang="en-US" sz="1600" dirty="0"/>
          </a:p>
        </p:txBody>
      </p:sp>
      <p:sp>
        <p:nvSpPr>
          <p:cNvPr id="5" name="Text 3"/>
          <p:cNvSpPr/>
          <p:nvPr/>
        </p:nvSpPr>
        <p:spPr>
          <a:xfrm>
            <a:off x="812767" y="3407420"/>
            <a:ext cx="9156700" cy="30991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6CCABD"/>
                </a:solidFill>
                <a:latin typeface="IBM Plex Sans" pitchFamily="34" charset="0"/>
                <a:ea typeface="IBM Plex Sans" pitchFamily="34" charset="-122"/>
                <a:cs typeface="IBM Plex Sans" pitchFamily="34" charset="-120"/>
              </a:rPr>
              <a:t>Measured:</a:t>
            </a:r>
            <a:r>
              <a:rPr lang="en-US" sz="1600" dirty="0">
                <a:solidFill>
                  <a:srgbClr val="C8D3D8"/>
                </a:solidFill>
                <a:latin typeface="IBM Plex Sans" pitchFamily="34" charset="0"/>
                <a:ea typeface="IBM Plex Sans" pitchFamily="34" charset="-122"/>
                <a:cs typeface="IBM Plex Sans" pitchFamily="34" charset="-120"/>
              </a:rPr>
              <a:t> calibration, sensor noise, detector and fusion ablations on synthetic data.</a:t>
            </a:r>
            <a:endParaRPr lang="en-US" sz="1600" dirty="0"/>
          </a:p>
        </p:txBody>
      </p:sp>
      <p:sp>
        <p:nvSpPr>
          <p:cNvPr id="6" name="Text 4"/>
          <p:cNvSpPr/>
          <p:nvPr/>
        </p:nvSpPr>
        <p:spPr>
          <a:xfrm>
            <a:off x="812767" y="3768080"/>
            <a:ext cx="9156700" cy="30991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6CCABD"/>
                </a:solidFill>
                <a:latin typeface="IBM Plex Sans" pitchFamily="34" charset="0"/>
                <a:ea typeface="IBM Plex Sans" pitchFamily="34" charset="-122"/>
                <a:cs typeface="IBM Plex Sans" pitchFamily="34" charset="-120"/>
              </a:rPr>
              <a:t>Next:</a:t>
            </a:r>
            <a:r>
              <a:rPr lang="en-US" sz="1600" dirty="0">
                <a:solidFill>
                  <a:srgbClr val="C8D3D8"/>
                </a:solidFill>
                <a:latin typeface="IBM Plex Sans" pitchFamily="34" charset="0"/>
                <a:ea typeface="IBM Plex Sans" pitchFamily="34" charset="-122"/>
                <a:cs typeface="IBM Plex Sans" pitchFamily="34" charset="-120"/>
              </a:rPr>
              <a:t> the occlusion ablation on real captures, by 31 October.</a:t>
            </a:r>
            <a:endParaRPr lang="en-US" sz="1600" dirty="0"/>
          </a:p>
        </p:txBody>
      </p:sp>
      <p:sp>
        <p:nvSpPr>
          <p:cNvPr id="7" name="Shape 5"/>
          <p:cNvSpPr/>
          <p:nvPr/>
        </p:nvSpPr>
        <p:spPr>
          <a:xfrm>
            <a:off x="812767" y="4131915"/>
            <a:ext cx="8890000" cy="0"/>
          </a:xfrm>
          <a:prstGeom prst="line">
            <a:avLst/>
          </a:prstGeom>
          <a:noFill/>
          <a:ln w="6350">
            <a:solidFill>
              <a:srgbClr val="3A4A56"/>
            </a:solidFill>
            <a:prstDash val="solid"/>
          </a:ln>
        </p:spPr>
      </p:sp>
      <p:sp>
        <p:nvSpPr>
          <p:cNvPr id="8" name="Text 6"/>
          <p:cNvSpPr/>
          <p:nvPr/>
        </p:nvSpPr>
        <p:spPr>
          <a:xfrm>
            <a:off x="812767" y="4261032"/>
            <a:ext cx="9156700" cy="71869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CCABD"/>
                </a:solidFill>
                <a:latin typeface="IBM Plex Sans" pitchFamily="34" charset="0"/>
                <a:ea typeface="IBM Plex Sans" pitchFamily="34" charset="-122"/>
                <a:cs typeface="IBM Plex Sans" pitchFamily="34" charset="-120"/>
              </a:rPr>
              <a:t>AI tool declaration:</a:t>
            </a:r>
            <a:r>
              <a:rPr lang="en-US" sz="1300" dirty="0">
                <a:solidFill>
                  <a:srgbClr val="C8D3D8"/>
                </a:solidFill>
                <a:latin typeface="IBM Plex Sans" pitchFamily="34" charset="0"/>
                <a:ea typeface="IBM Plex Sans" pitchFamily="34" charset="-122"/>
                <a:cs typeface="IBM Plex Sans" pitchFamily="34" charset="-120"/>
              </a:rPr>
              <a:t> I used Claude (Anthropic), through Claude Code, to write the system's code under my design and review, and to draft these slides and their speaker notes from my proposal and interim report. I am responsible for the content and quality of the submitted work.</a:t>
            </a:r>
            <a:endParaRPr lang="en-US" sz="1300" dirty="0"/>
          </a:p>
        </p:txBody>
      </p:sp>
      <p:sp>
        <p:nvSpPr>
          <p:cNvPr id="9" name="Text 7"/>
          <p:cNvSpPr/>
          <p:nvPr/>
        </p:nvSpPr>
        <p:spPr>
          <a:xfrm>
            <a:off x="812767" y="5831904"/>
            <a:ext cx="108834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D3D8"/>
                </a:solidFill>
                <a:latin typeface="IBM Plex Mono" pitchFamily="34" charset="0"/>
                <a:ea typeface="IBM Plex Mono" pitchFamily="34" charset="-122"/>
                <a:cs typeface="IBM Plex Mono" pitchFamily="34" charset="-120"/>
              </a:rPr>
              <a:t>Chan Wai Jye · AIS08 · 18 / 18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12 The Eyes – First Presentation</dc:title>
  <dc:subject>PptxGenJS Presentation</dc:subject>
  <dc:creator>PptxGenJS</dc:creator>
  <cp:lastModifiedBy>PptxGenJS</cp:lastModifiedBy>
  <cp:revision>1</cp:revision>
  <dcterms:created xsi:type="dcterms:W3CDTF">2026-09-29T15:42:40Z</dcterms:created>
  <dcterms:modified xsi:type="dcterms:W3CDTF">2026-09-29T15:42:40Z</dcterms:modified>
</cp:coreProperties>
</file>